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  <p:sldMasterId id="2147483673" r:id="rId3"/>
  </p:sldMasterIdLst>
  <p:notesMasterIdLst>
    <p:notesMasterId r:id="rId19"/>
  </p:notesMasterIdLst>
  <p:sldIdLst>
    <p:sldId id="270" r:id="rId4"/>
    <p:sldId id="271" r:id="rId5"/>
    <p:sldId id="258" r:id="rId6"/>
    <p:sldId id="259" r:id="rId7"/>
    <p:sldId id="273" r:id="rId8"/>
    <p:sldId id="274" r:id="rId9"/>
    <p:sldId id="278" r:id="rId10"/>
    <p:sldId id="277" r:id="rId11"/>
    <p:sldId id="279" r:id="rId12"/>
    <p:sldId id="280" r:id="rId13"/>
    <p:sldId id="265" r:id="rId14"/>
    <p:sldId id="276" r:id="rId15"/>
    <p:sldId id="267" r:id="rId16"/>
    <p:sldId id="268" r:id="rId17"/>
    <p:sldId id="269" r:id="rId18"/>
  </p:sldIdLst>
  <p:sldSz cx="9144000" cy="5143500" type="screen16x9"/>
  <p:notesSz cx="6858000" cy="9144000"/>
  <p:embeddedFontLst>
    <p:embeddedFont>
      <p:font typeface="Manrope" panose="020B0604020202020204" charset="0"/>
      <p:regular r:id="rId20"/>
      <p:bold r:id="rId21"/>
    </p:embeddedFont>
    <p:embeddedFont>
      <p:font typeface="Manrope SemiBold" panose="020B0604020202020204" charset="0"/>
      <p:regular r:id="rId22"/>
      <p:bold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1"/>
    <a:srgbClr val="E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630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5600" y="674688"/>
            <a:ext cx="5994400" cy="337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70560" y="4271010"/>
            <a:ext cx="5364480" cy="4046220"/>
          </a:xfrm>
          <a:prstGeom prst="rect">
            <a:avLst/>
          </a:prstGeom>
        </p:spPr>
        <p:txBody>
          <a:bodyPr spcFirstLastPara="1" wrap="square" lIns="89670" tIns="89670" rIns="89670" bIns="8967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5600" y="674688"/>
            <a:ext cx="5994400" cy="337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70560" y="4271010"/>
            <a:ext cx="5364480" cy="4046220"/>
          </a:xfrm>
          <a:prstGeom prst="rect">
            <a:avLst/>
          </a:prstGeom>
        </p:spPr>
        <p:txBody>
          <a:bodyPr spcFirstLastPara="1" wrap="square" lIns="89670" tIns="89670" rIns="89670" bIns="8967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55600" y="674688"/>
            <a:ext cx="5994400" cy="33718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9684" tIns="44843" rIns="89684" bIns="44843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5600" y="674688"/>
            <a:ext cx="5994400" cy="337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70560" y="4271010"/>
            <a:ext cx="5364480" cy="4046220"/>
          </a:xfrm>
          <a:prstGeom prst="rect">
            <a:avLst/>
          </a:prstGeom>
        </p:spPr>
        <p:txBody>
          <a:bodyPr spcFirstLastPara="1" wrap="square" lIns="89670" tIns="89670" rIns="89670" bIns="8967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1C93A8C-10A7-E14D-0CED-5967CA64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FEECC0B3-68BF-662C-9458-1EB5E7812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5600" y="674688"/>
            <a:ext cx="5994400" cy="337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E7AC0FC0-0E2F-A13B-8D95-70AC98739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0560" y="4271010"/>
            <a:ext cx="5364480" cy="4046220"/>
          </a:xfrm>
          <a:prstGeom prst="rect">
            <a:avLst/>
          </a:prstGeom>
        </p:spPr>
        <p:txBody>
          <a:bodyPr spcFirstLastPara="1" wrap="square" lIns="89670" tIns="89670" rIns="89670" bIns="8967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7025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5600" y="674688"/>
            <a:ext cx="5994400" cy="33718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6" name="Google Shape;96;g3b6c7e62156_0_38:notes"/>
          <p:cNvSpPr txBox="1">
            <a:spLocks noGrp="1"/>
          </p:cNvSpPr>
          <p:nvPr>
            <p:ph type="body" idx="1"/>
          </p:nvPr>
        </p:nvSpPr>
        <p:spPr>
          <a:xfrm>
            <a:off x="670560" y="4271010"/>
            <a:ext cx="5364480" cy="4046220"/>
          </a:xfrm>
          <a:prstGeom prst="rect">
            <a:avLst/>
          </a:prstGeom>
        </p:spPr>
        <p:txBody>
          <a:bodyPr spcFirstLastPara="1" wrap="square" lIns="89670" tIns="89670" rIns="89670" bIns="89670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55600" y="674688"/>
            <a:ext cx="5994400" cy="337185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9684" tIns="44843" rIns="89684" bIns="44843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7021451-1387-4CA6-816F-3879F97B5CBC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8" name="Google Shape;108;g3cb91012bb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0" name="Google Shape;120;g3cb91012bb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6" name="Google Shape;126;g3cb91012bb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3" name="Google Shape;133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0134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3846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61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4186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0678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76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817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26112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22451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5769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910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8995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36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21624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084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10" Type="http://schemas.openxmlformats.org/officeDocument/2006/relationships/image" Target="../media/image3.png"/><Relationship Id="rId4" Type="http://schemas.openxmlformats.org/officeDocument/2006/relationships/image" Target="../media/image21.jpe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81" y="-1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7"/>
            <a:ext cx="8520600" cy="1339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KisaanMitra.AI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Aditya Mahesh Rane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 SemiBold"/>
                <a:cs typeface="Manrope SemiBold"/>
                <a:sym typeface="Manrope SemiBold"/>
              </a:rPr>
              <a:t>AI for Rural Innovation &amp; Sustainable Systems - Build an AI-powered solution that supports rural ecosystems, sustainability, or resource-efficient systems.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23715" y="483326"/>
            <a:ext cx="8696569" cy="452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GB" sz="21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kumimoji="0" lang="en-US" sz="2100" b="1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/>
              <a:ea typeface="Manrope"/>
              <a:cs typeface="Manrope"/>
              <a:sym typeface="Manrope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Problem Statement 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India has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146.5 million 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070B11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farming households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, of which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86% are small and marginal farmers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owning less than 2 hectares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(Agriculture Census 2015-16).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Over 50% of these households are in debt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(NSO 2019)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, with an average monthly income of just ₹10,218 (NSS 77th Round).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They lack access to timely, hyper-local and integrated decision support across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crop management, financial planning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and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market intelligence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— leading to annual post-harvest and pre-harvest </a:t>
            </a:r>
            <a:r>
              <a:rPr kumimoji="0" lang="en-US" sz="1000" i="0" u="none" strike="noStrike" kern="0" cap="none" spc="0" normalizeH="0" baseline="0" noProof="0" dirty="0">
                <a:ln>
                  <a:noFill/>
                </a:ln>
                <a:solidFill>
                  <a:srgbClr val="070B11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losses worth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₹92,651 crore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(ICAR-CIPHET),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with fruits and vegetables alone losing 5-15% of produce before reaching the market (NABCONS 2022).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Existing information is fragmented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, non-personalized and difficult to apply at the village level. 80% of marginal farmers are affected by adverse climatic events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(FEED 2024),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yet most digital </a:t>
            </a: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agri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-solutions require smartphones, English literacy, and app downloads — excluding the very farmers who need help the most.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lang="en-US" sz="1000" dirty="0">
              <a:solidFill>
                <a:srgbClr val="202729"/>
              </a:solidFill>
              <a:latin typeface="Manrope" panose="020B0604020202020204" charset="0"/>
              <a:sym typeface="Manrope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1" i="0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Who is Affected -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Small and marginal farmers comprising 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86%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 of India’s agricultural households </a:t>
            </a: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(Agriculture Census 2015-16),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with 65% being marginal farmers whose operational holdings cover only 24% of total cultivable land. They face a ₹50,000+ annual income gap due to poor market timing, delayed disease detection, and lack of access to credit and government schemes.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Manrope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sz="1000" b="1" i="0" u="sng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Manrope"/>
              </a:rPr>
              <a:t>Our Solution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Manrope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CB841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KisaanMitra.AI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is a WhatsApp-based multi-agent AI system designed to act as a farmer’s all-in-one intelligent assistant.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It combines three specialized AI agents:</a:t>
            </a:r>
          </a:p>
          <a:p>
            <a:pPr marL="171450" marR="0" lvl="2" indent="-171450" algn="l" defTabSz="914400" rtl="0" eaLnBrk="0" fontAlgn="base" latinLnBrk="0" hangingPunct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Crop Agent –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Provides hyper-local crop guidance, disease diagnosis, fertilizer and pesticide recommendations and season-specific best practices tailored to the farmer’s village and crop stage.</a:t>
            </a:r>
          </a:p>
          <a:p>
            <a:pPr marL="171450" marR="0" lvl="2" indent="-171450" algn="l" defTabSz="914400" rtl="0" eaLnBrk="0" fontAlgn="base" latinLnBrk="0" hangingPunct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Market Agent –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Uses demand trends and time-series forecasting to suggest the best crop to grow, optimal harvest timing, and where to sell for maximum profit.</a:t>
            </a:r>
          </a:p>
          <a:p>
            <a:pPr marL="171450" marR="0" lvl="2" indent="-171450" algn="l" defTabSz="914400" rtl="0" eaLnBrk="0" fontAlgn="base" latinLnBrk="0" hangingPunct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Finance Agent –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Provides end-to-end budget planning for farmers. Helps farmers plan pre-planting budgets, optimize input costs, access relevant government schemes and make informed financial decisions.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The solution also has</a:t>
            </a: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 local language support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. It operates in Hindi and regional languages with simple, conversational interaction. Supports text</a:t>
            </a:r>
            <a:r>
              <a:rPr lang="en-US" altLang="en-US" sz="1000" dirty="0">
                <a:solidFill>
                  <a:srgbClr val="202729"/>
                </a:solidFill>
                <a:latin typeface="Manrope" panose="020B0604020202020204" charset="0"/>
              </a:rPr>
              <a:t> and image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inputs to ensure accessibility for farmers with limited digital experience.</a:t>
            </a: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Together, these agents deliver personalized, data-driven decisions directly through WhatsApp making advanced agricultural intelligence simple, accessible and actionable for every farmer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Manrope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Manrope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Manrop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76EC5-BDED-F703-9CA0-2F44DE69C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1504" y="483326"/>
            <a:ext cx="502921" cy="502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EEBD91-60F4-896B-26DE-4D6AB88C96F8}"/>
              </a:ext>
            </a:extLst>
          </p:cNvPr>
          <p:cNvSpPr/>
          <p:nvPr/>
        </p:nvSpPr>
        <p:spPr>
          <a:xfrm>
            <a:off x="8607501" y="1116874"/>
            <a:ext cx="411808" cy="37583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070B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Google Shape;69;p15"/>
          <p:cNvSpPr txBox="1"/>
          <p:nvPr/>
        </p:nvSpPr>
        <p:spPr>
          <a:xfrm>
            <a:off x="280541" y="505691"/>
            <a:ext cx="8380389" cy="457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lnSpc>
                <a:spcPct val="135000"/>
              </a:lnSpc>
              <a:spcBef>
                <a:spcPts val="600"/>
              </a:spcBef>
              <a:buSzPts val="935"/>
              <a:buNone/>
            </a:pPr>
            <a:r>
              <a:rPr lang="en-US" sz="1700" b="1" dirty="0">
                <a:solidFill>
                  <a:srgbClr val="202729"/>
                </a:solidFill>
                <a:latin typeface="Manrope"/>
              </a:rPr>
              <a:t>Why AI is Required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02729"/>
                </a:solidFill>
                <a:latin typeface="Manrope"/>
              </a:rPr>
              <a:t>Farmers speak natural Hindi/Hinglish with typos and slang — only an LLM can </a:t>
            </a:r>
            <a:r>
              <a:rPr lang="en-US" sz="900" b="1" dirty="0">
                <a:solidFill>
                  <a:srgbClr val="00B050"/>
                </a:solidFill>
                <a:latin typeface="Manrope"/>
              </a:rPr>
              <a:t>understand intent, detect language, and route to the right agent (Crop/Market/Finance)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from a single message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02729"/>
                </a:solidFill>
                <a:latin typeface="Manrope"/>
              </a:rPr>
              <a:t>Disease diagnosis from crop photos needs </a:t>
            </a:r>
            <a:r>
              <a:rPr lang="en-US" sz="900" b="1" dirty="0">
                <a:solidFill>
                  <a:srgbClr val="00B050"/>
                </a:solidFill>
                <a:latin typeface="Manrope"/>
              </a:rPr>
              <a:t>multi-modal AI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to identify 50+ diseases at 85%+ accuracy and generate treatment + cost estimates instantly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02729"/>
                </a:solidFill>
                <a:latin typeface="Manrope"/>
              </a:rPr>
              <a:t>Personalized budgets, price forecasts, and scheme eligibility require multi-step reasoning across each farmer's unique profile, location, and real-time data — </a:t>
            </a:r>
            <a:r>
              <a:rPr lang="en-US" sz="900" b="1" dirty="0">
                <a:solidFill>
                  <a:srgbClr val="FF0000"/>
                </a:solidFill>
                <a:latin typeface="Manrope"/>
              </a:rPr>
              <a:t>impossible with rule-based systems</a:t>
            </a:r>
            <a:endParaRPr lang="en-US" sz="1600" b="1" dirty="0">
              <a:solidFill>
                <a:srgbClr val="FF0000"/>
              </a:solidFill>
              <a:latin typeface="Manrope"/>
            </a:endParaRPr>
          </a:p>
          <a:p>
            <a:pPr>
              <a:lnSpc>
                <a:spcPct val="135000"/>
              </a:lnSpc>
              <a:spcBef>
                <a:spcPts val="600"/>
              </a:spcBef>
              <a:buSzPts val="935"/>
              <a:buNone/>
            </a:pPr>
            <a:r>
              <a:rPr lang="en-US" sz="1700" b="1" dirty="0">
                <a:solidFill>
                  <a:srgbClr val="202729"/>
                </a:solidFill>
                <a:latin typeface="Manrope"/>
              </a:rPr>
              <a:t>How AWS Services Are Used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EF6C00"/>
                </a:solidFill>
                <a:latin typeface="Manrope"/>
              </a:rPr>
              <a:t>Amazon Bedrock (Nova Pro + Claude Sonnet 4):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Core GenAI engine powering Hindi conversations, intent detection, agent reasoning, budget planning, and price forecasting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EF6C00"/>
                </a:solidFill>
                <a:latin typeface="Manrope"/>
              </a:rPr>
              <a:t>Lambda + API Gateway + DynamoDB: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Serverless compute (4 Lambda functions) with auto-scaling to 1000+ users, sub-millisecond database reads across 5 DynamoDB tables, and secure WhatsApp webhook entry point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EF6C00"/>
                </a:solidFill>
                <a:latin typeface="Manrope"/>
              </a:rPr>
              <a:t>S3 + Secrets Manager + CloudWatch: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Image storage for crop photos, encrypted API key management (zero hardcoded credentials), and real-time monitoring with error/cost alerts</a:t>
            </a:r>
            <a:endParaRPr lang="en-US" sz="1600" b="1" dirty="0">
              <a:solidFill>
                <a:srgbClr val="202729"/>
              </a:solidFill>
              <a:latin typeface="Manrope"/>
            </a:endParaRPr>
          </a:p>
          <a:p>
            <a:pPr>
              <a:lnSpc>
                <a:spcPct val="135000"/>
              </a:lnSpc>
              <a:spcBef>
                <a:spcPts val="600"/>
              </a:spcBef>
              <a:buSzPts val="935"/>
              <a:buNone/>
            </a:pPr>
            <a:r>
              <a:rPr lang="en-US" sz="1700" b="1" dirty="0">
                <a:solidFill>
                  <a:srgbClr val="202729"/>
                </a:solidFill>
                <a:latin typeface="Manrope"/>
              </a:rPr>
              <a:t>What Value the AI Layer Adds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02729"/>
                </a:solidFill>
                <a:latin typeface="Manrope"/>
              </a:rPr>
              <a:t>Instant </a:t>
            </a:r>
            <a:r>
              <a:rPr lang="en-US" sz="900" b="1" dirty="0">
                <a:solidFill>
                  <a:srgbClr val="00B050"/>
                </a:solidFill>
                <a:latin typeface="Manrope"/>
              </a:rPr>
              <a:t>expert advice in 2-5 seconds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in natural Hindi — replaces expensive consultants with a WhatsApp chat that has </a:t>
            </a:r>
            <a:r>
              <a:rPr lang="en-US" sz="900" b="1" dirty="0">
                <a:solidFill>
                  <a:srgbClr val="00B050"/>
                </a:solidFill>
                <a:latin typeface="Manrope"/>
              </a:rPr>
              <a:t>zero learning curve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B050"/>
                </a:solidFill>
                <a:latin typeface="Manrope"/>
              </a:rPr>
              <a:t>Cross-domain intelligence 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in one conversation — ask about a disease and get diagnosis + treatment cost + government scheme eligibility + community alerts to nearby farmers, all in a single response</a:t>
            </a:r>
          </a:p>
          <a:p>
            <a:pPr marL="285750" indent="-285750">
              <a:lnSpc>
                <a:spcPct val="135000"/>
              </a:lnSpc>
              <a:spcBef>
                <a:spcPts val="600"/>
              </a:spcBef>
              <a:buSzPts val="935"/>
              <a:buFont typeface="Arial" panose="020B0604020202020204" pitchFamily="34" charset="0"/>
              <a:buChar char="•"/>
            </a:pPr>
            <a:r>
              <a:rPr lang="en-US" sz="900" b="1" dirty="0">
                <a:solidFill>
                  <a:srgbClr val="00B050"/>
                </a:solidFill>
                <a:latin typeface="Manrope"/>
              </a:rPr>
              <a:t>Every response is actionable</a:t>
            </a:r>
            <a:r>
              <a:rPr lang="en-US" sz="900" dirty="0">
                <a:solidFill>
                  <a:srgbClr val="202729"/>
                </a:solidFill>
                <a:latin typeface="Manrope"/>
              </a:rPr>
              <a:t>, not generic — specific pesticide names, exact dosages, rupee costs, mandi names, and step-by-step next actions personalized to the farmer's crops, land, and location</a:t>
            </a:r>
          </a:p>
        </p:txBody>
      </p:sp>
      <p:pic>
        <p:nvPicPr>
          <p:cNvPr id="1026" name="Picture 2" descr="Download Amazon Web Services (AWS) Logo in SVG Vector or PNG ...">
            <a:extLst>
              <a:ext uri="{FF2B5EF4-FFF2-40B4-BE49-F238E27FC236}">
                <a16:creationId xmlns:a16="http://schemas.microsoft.com/office/drawing/2014/main" id="{8A3B2A48-1243-1357-9AE2-3AF33FE5F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847" y="1211763"/>
            <a:ext cx="377190" cy="25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edrock SVG and PNG Icons | AWS Icons">
            <a:extLst>
              <a:ext uri="{FF2B5EF4-FFF2-40B4-BE49-F238E27FC236}">
                <a16:creationId xmlns:a16="http://schemas.microsoft.com/office/drawing/2014/main" id="{BA6C2CAC-DE92-2420-9A69-8D445D9AC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7947" y="1647132"/>
            <a:ext cx="250916" cy="250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137B10-551D-AC8D-1522-32431FCA1A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7947" y="2081957"/>
            <a:ext cx="250916" cy="250916"/>
          </a:xfrm>
          <a:prstGeom prst="rect">
            <a:avLst/>
          </a:prstGeom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4D9B61D-7A41-9643-46E2-707775E1B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093" y="2516782"/>
            <a:ext cx="253770" cy="30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ws-cloudwatch-logo-png-transparent - CodeOpinion">
            <a:extLst>
              <a:ext uri="{FF2B5EF4-FFF2-40B4-BE49-F238E27FC236}">
                <a16:creationId xmlns:a16="http://schemas.microsoft.com/office/drawing/2014/main" id="{0E2A195C-7360-3986-9384-5E752CF2E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5093" y="3004427"/>
            <a:ext cx="278039" cy="31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mazon DynamoDB - Wikipedia">
            <a:extLst>
              <a:ext uri="{FF2B5EF4-FFF2-40B4-BE49-F238E27FC236}">
                <a16:creationId xmlns:a16="http://schemas.microsoft.com/office/drawing/2014/main" id="{C336466D-9816-C6FF-68F1-233BCD234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1871" y="3503317"/>
            <a:ext cx="353275" cy="32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Claude Free SVG, PNG, and vector dow... · LobeHub">
            <a:extLst>
              <a:ext uri="{FF2B5EF4-FFF2-40B4-BE49-F238E27FC236}">
                <a16:creationId xmlns:a16="http://schemas.microsoft.com/office/drawing/2014/main" id="{7AF3D676-40D1-E429-42F1-87CCAF087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507" y="4444881"/>
            <a:ext cx="276771" cy="276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8B7C42-2529-AF1D-FC61-3A91BD4C26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1858" y="4007336"/>
            <a:ext cx="253637" cy="253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1D5ADE-272A-794C-931A-BB8DB97498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1504" y="483326"/>
            <a:ext cx="502921" cy="5029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208878" y="550362"/>
            <a:ext cx="6713562" cy="48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sz="16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6E6DA0-7FBE-8F08-63ED-E7E962D84AB0}"/>
              </a:ext>
            </a:extLst>
          </p:cNvPr>
          <p:cNvSpPr/>
          <p:nvPr/>
        </p:nvSpPr>
        <p:spPr>
          <a:xfrm>
            <a:off x="845221" y="1307307"/>
            <a:ext cx="7436644" cy="457200"/>
          </a:xfrm>
          <a:prstGeom prst="roundRect">
            <a:avLst/>
          </a:prstGeom>
          <a:solidFill>
            <a:srgbClr val="2CB8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latin typeface="Manrope" panose="020B0604020202020204" charset="0"/>
              </a:rPr>
              <a:t>WhatsApp-Based Multi-Agent AI Assistant</a:t>
            </a:r>
            <a:endParaRPr lang="en-IN" b="1">
              <a:latin typeface="Manrop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041C45-65E2-1C79-A5E1-4AD87170B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3120" y="1374808"/>
            <a:ext cx="335756" cy="33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268C7618-2045-E768-E7ED-818E89205425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 rot="5400000">
            <a:off x="2938341" y="675085"/>
            <a:ext cx="535781" cy="27146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3619CC-ED5C-C125-2902-CCCDE1916504}"/>
              </a:ext>
            </a:extLst>
          </p:cNvPr>
          <p:cNvSpPr/>
          <p:nvPr/>
        </p:nvSpPr>
        <p:spPr>
          <a:xfrm>
            <a:off x="845221" y="2300288"/>
            <a:ext cx="2007393" cy="2486025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C26DD4-F09C-8ADA-3598-5BA0A8AED437}"/>
              </a:ext>
            </a:extLst>
          </p:cNvPr>
          <p:cNvSpPr/>
          <p:nvPr/>
        </p:nvSpPr>
        <p:spPr>
          <a:xfrm>
            <a:off x="3565659" y="2300285"/>
            <a:ext cx="2007393" cy="2486025"/>
          </a:xfrm>
          <a:prstGeom prst="roundRect">
            <a:avLst/>
          </a:prstGeom>
          <a:solidFill>
            <a:srgbClr val="E2680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4DE30D7-8D21-EDC3-5426-D0543EDAE0C0}"/>
              </a:ext>
            </a:extLst>
          </p:cNvPr>
          <p:cNvCxnSpPr>
            <a:cxnSpLocks/>
          </p:cNvCxnSpPr>
          <p:nvPr/>
        </p:nvCxnSpPr>
        <p:spPr>
          <a:xfrm>
            <a:off x="4562223" y="2039540"/>
            <a:ext cx="2714627" cy="2678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8A557C-16E2-8F7C-962F-C89DB9003BBD}"/>
              </a:ext>
            </a:extLst>
          </p:cNvPr>
          <p:cNvCxnSpPr>
            <a:cxnSpLocks/>
          </p:cNvCxnSpPr>
          <p:nvPr/>
        </p:nvCxnSpPr>
        <p:spPr>
          <a:xfrm flipH="1">
            <a:off x="4556399" y="2032397"/>
            <a:ext cx="8457" cy="2678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4" descr="Magnifying glass - Free nature icons">
            <a:extLst>
              <a:ext uri="{FF2B5EF4-FFF2-40B4-BE49-F238E27FC236}">
                <a16:creationId xmlns:a16="http://schemas.microsoft.com/office/drawing/2014/main" id="{DA0C47E2-7A1E-D06E-C276-D0DB69E32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076" y="4357691"/>
            <a:ext cx="395287" cy="39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8D69A0-3E7B-2276-0F59-707C4AEAA758}"/>
              </a:ext>
            </a:extLst>
          </p:cNvPr>
          <p:cNvSpPr txBox="1"/>
          <p:nvPr/>
        </p:nvSpPr>
        <p:spPr>
          <a:xfrm>
            <a:off x="1138113" y="2374106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Crop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2A58E-ED8C-F536-62CD-4599D323A5AE}"/>
              </a:ext>
            </a:extLst>
          </p:cNvPr>
          <p:cNvSpPr txBox="1"/>
          <p:nvPr/>
        </p:nvSpPr>
        <p:spPr>
          <a:xfrm>
            <a:off x="3852445" y="2400300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Market Agent</a:t>
            </a:r>
            <a:endParaRPr lang="en-IN" b="1">
              <a:solidFill>
                <a:schemeClr val="bg1"/>
              </a:solidFill>
            </a:endParaRPr>
          </a:p>
        </p:txBody>
      </p:sp>
      <p:pic>
        <p:nvPicPr>
          <p:cNvPr id="12" name="Picture 6" descr="Farmer - Free farming and gardening icons">
            <a:extLst>
              <a:ext uri="{FF2B5EF4-FFF2-40B4-BE49-F238E27FC236}">
                <a16:creationId xmlns:a16="http://schemas.microsoft.com/office/drawing/2014/main" id="{B8054924-7EAB-4A28-C2B4-713FFEFA5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132" y="4401444"/>
            <a:ext cx="307778" cy="30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458A56-6E03-203E-6CAB-C16CD70E6CEA}"/>
              </a:ext>
            </a:extLst>
          </p:cNvPr>
          <p:cNvSpPr txBox="1"/>
          <p:nvPr/>
        </p:nvSpPr>
        <p:spPr>
          <a:xfrm>
            <a:off x="829888" y="2683727"/>
            <a:ext cx="2007393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latin typeface="Manrope" panose="020B0604020202020204" charset="0"/>
              </a:rPr>
              <a:t>Hyper-local crop advice (village level knowledge graph)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latin typeface="Manrope" panose="020B0604020202020204" charset="0"/>
              </a:rPr>
              <a:t>Disease &amp; pest diagnosis (image + text)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latin typeface="Manrope" panose="020B0604020202020204" charset="0"/>
              </a:rPr>
              <a:t>Fertilizer &amp; pesticide recommendations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latin typeface="Manrope" panose="020B0604020202020204" charset="0"/>
              </a:rPr>
              <a:t>Best practices from nearby successful farmers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latin typeface="Manrope" panose="020B0604020202020204" charset="0"/>
              </a:rPr>
              <a:t>Soil &amp; weather aware suggestions based on local conditions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EA3014-D7BD-D77F-8D8B-2388B26961D9}"/>
              </a:ext>
            </a:extLst>
          </p:cNvPr>
          <p:cNvSpPr txBox="1"/>
          <p:nvPr/>
        </p:nvSpPr>
        <p:spPr>
          <a:xfrm>
            <a:off x="3552702" y="2752976"/>
            <a:ext cx="2007393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Manrope" panose="020B0604020202020204" charset="0"/>
              </a:rPr>
              <a:t>Live prices from 1000+ mandis, multi-crop comparison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Manrope" panose="020B0604020202020204" charset="0"/>
              </a:rPr>
              <a:t>7-day AI price forecast + supply-demand signals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Manrope" panose="020B0604020202020204" charset="0"/>
              </a:rPr>
              <a:t>Best sell timing, target price, risk assessment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Manrope" panose="020B0604020202020204" charset="0"/>
              </a:rPr>
              <a:t>Best mandi by price vs distance vs transport cost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bg1"/>
                </a:solidFill>
                <a:latin typeface="Manrope" panose="020B0604020202020204" charset="0"/>
              </a:rPr>
              <a:t>Custom price alerts on target hit or changes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630370-0A73-B035-D8A3-98A11CBC289C}"/>
              </a:ext>
            </a:extLst>
          </p:cNvPr>
          <p:cNvSpPr/>
          <p:nvPr/>
        </p:nvSpPr>
        <p:spPr>
          <a:xfrm>
            <a:off x="6281632" y="2300287"/>
            <a:ext cx="2007393" cy="2486025"/>
          </a:xfrm>
          <a:prstGeom prst="roundRect">
            <a:avLst/>
          </a:prstGeom>
          <a:solidFill>
            <a:srgbClr val="01438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2680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24736-7FC7-EDDC-B0A4-6C6134C10DDB}"/>
              </a:ext>
            </a:extLst>
          </p:cNvPr>
          <p:cNvSpPr txBox="1"/>
          <p:nvPr/>
        </p:nvSpPr>
        <p:spPr>
          <a:xfrm>
            <a:off x="6582982" y="2381251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Finance Agent</a:t>
            </a:r>
            <a:endParaRPr lang="en-IN" b="1">
              <a:solidFill>
                <a:schemeClr val="bg1"/>
              </a:solidFill>
            </a:endParaRPr>
          </a:p>
        </p:txBody>
      </p:sp>
      <p:pic>
        <p:nvPicPr>
          <p:cNvPr id="17" name="Picture 8" descr="Money - Free business and finance icons">
            <a:extLst>
              <a:ext uri="{FF2B5EF4-FFF2-40B4-BE49-F238E27FC236}">
                <a16:creationId xmlns:a16="http://schemas.microsoft.com/office/drawing/2014/main" id="{56B8A774-F2C8-290E-86A0-F347B6C5F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1022" y="4388584"/>
            <a:ext cx="333500" cy="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DB638B4-8502-FC0F-638C-5D8F6A567586}"/>
              </a:ext>
            </a:extLst>
          </p:cNvPr>
          <p:cNvSpPr txBox="1"/>
          <p:nvPr/>
        </p:nvSpPr>
        <p:spPr>
          <a:xfrm>
            <a:off x="6283983" y="2683727"/>
            <a:ext cx="200739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Manrope" panose="020B0604020202020204" charset="0"/>
              </a:rPr>
              <a:t>Full budget: cost breakdown + revenue + profit projection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Manrope" panose="020B0604020202020204" charset="0"/>
              </a:rPr>
              <a:t>Auto scheme match (PM-KISAN, KCC, PMFBY, SHC)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Manrope" panose="020B0604020202020204" charset="0"/>
              </a:rPr>
              <a:t>Loan advisory: rates, eligibility, docs checklist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Manrope" panose="020B0604020202020204" charset="0"/>
              </a:rPr>
              <a:t>Risk scoring: weather, market, disease probability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900" dirty="0">
                <a:solidFill>
                  <a:schemeClr val="bg1"/>
                </a:solidFill>
                <a:latin typeface="Manrope" panose="020B0604020202020204" charset="0"/>
              </a:rPr>
              <a:t>Input cost optimization + expense tracking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718296F-0B5D-B5BA-DA01-F9630CAB3D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1504" y="483326"/>
            <a:ext cx="502921" cy="5029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74;p16" title="Artboarddfghjk – 6.png">
            <a:extLst>
              <a:ext uri="{FF2B5EF4-FFF2-40B4-BE49-F238E27FC236}">
                <a16:creationId xmlns:a16="http://schemas.microsoft.com/office/drawing/2014/main" id="{B702949A-F91B-FF08-1256-87FE5591E3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3"/>
          <p:cNvSpPr/>
          <p:nvPr/>
        </p:nvSpPr>
        <p:spPr>
          <a:xfrm>
            <a:off x="804672" y="841248"/>
            <a:ext cx="475488" cy="475488"/>
          </a:xfrm>
          <a:prstGeom prst="ellipse">
            <a:avLst/>
          </a:prstGeom>
          <a:solidFill>
            <a:srgbClr val="25D3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9509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135331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Onboarding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" name="Shape 5"/>
          <p:cNvSpPr/>
          <p:nvPr/>
        </p:nvSpPr>
        <p:spPr>
          <a:xfrm>
            <a:off x="1316736" y="1078992"/>
            <a:ext cx="118872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28600" y="1554480"/>
            <a:ext cx="16276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28600" y="1554480"/>
            <a:ext cx="1627632" cy="36576"/>
          </a:xfrm>
          <a:prstGeom prst="rect">
            <a:avLst/>
          </a:prstGeom>
          <a:solidFill>
            <a:srgbClr val="25D3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8328" y="169164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38328" y="184708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29166" y="1911096"/>
            <a:ext cx="1408176" cy="240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AI collects basic details: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Village name &amp; Location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Current crop &amp; Sowing date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Irrigation type &amp; Budget range</a:t>
            </a:r>
          </a:p>
        </p:txBody>
      </p:sp>
      <p:sp>
        <p:nvSpPr>
          <p:cNvPr id="20" name="Shape 17"/>
          <p:cNvSpPr/>
          <p:nvPr/>
        </p:nvSpPr>
        <p:spPr>
          <a:xfrm>
            <a:off x="2542032" y="841248"/>
            <a:ext cx="475488" cy="475488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95097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65960" y="135331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Pre-Planting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054096" y="1078992"/>
            <a:ext cx="118872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1965960" y="1554480"/>
            <a:ext cx="16276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1965960" y="1554480"/>
            <a:ext cx="1627632" cy="36576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2178885" y="3622329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2075688" y="1892808"/>
            <a:ext cx="1408176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Market Agent: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Demand trends + forecasting → best crop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Finance Agent: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Budget plan + schemes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Crop Agent: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Soil prep + seed variety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555555"/>
              </a:solidFill>
              <a:effectLst/>
              <a:uLnTx/>
              <a:uFillTx/>
              <a:latin typeface="Manrope" panose="020B0604020202020204" charset="0"/>
              <a:ea typeface="Calibri" pitchFamily="34" charset="-122"/>
              <a:cs typeface="Calibri" pitchFamily="34" charset="-12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2075688" y="204825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2075688" y="220370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2075688" y="235915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2075688" y="2514600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2075688" y="267004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2075688" y="282549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2075688" y="30266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2075688" y="31821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4279392" y="841248"/>
            <a:ext cx="475488" cy="475488"/>
          </a:xfrm>
          <a:prstGeom prst="ellipse">
            <a:avLst/>
          </a:prstGeom>
          <a:solidFill>
            <a:srgbClr val="43A0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950976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3703320" y="135331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Growing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9" name="Shape 34"/>
          <p:cNvSpPr/>
          <p:nvPr/>
        </p:nvSpPr>
        <p:spPr>
          <a:xfrm>
            <a:off x="4791456" y="1078992"/>
            <a:ext cx="118872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0" name="Shape 35"/>
          <p:cNvSpPr/>
          <p:nvPr/>
        </p:nvSpPr>
        <p:spPr>
          <a:xfrm>
            <a:off x="3703320" y="1554480"/>
            <a:ext cx="16276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1" name="Shape 36"/>
          <p:cNvSpPr/>
          <p:nvPr/>
        </p:nvSpPr>
        <p:spPr>
          <a:xfrm>
            <a:off x="3703320" y="1554480"/>
            <a:ext cx="1627632" cy="36576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3813048" y="1630289"/>
            <a:ext cx="1408176" cy="2941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Manrope" panose="020B0604020202020204" charset="0"/>
              <a:ea typeface="Calibri" pitchFamily="34" charset="-122"/>
              <a:cs typeface="Calibri" pitchFamily="34" charset="-12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Disease Diagnosis: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Detects disease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Suggests correct pesticide &amp; dosage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Weekly Advisory: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Weather/Pest alerts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Irrigation reminders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Fertilizer schedule by crop stage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Cost Control: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Compares local market prices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Cheaper alternatives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Checks subsidy availability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5" name="Text 40"/>
          <p:cNvSpPr/>
          <p:nvPr/>
        </p:nvSpPr>
        <p:spPr>
          <a:xfrm>
            <a:off x="3813048" y="220370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8" name="Text 43"/>
          <p:cNvSpPr/>
          <p:nvPr/>
        </p:nvSpPr>
        <p:spPr>
          <a:xfrm>
            <a:off x="3813048" y="27157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0" name="Text 45"/>
          <p:cNvSpPr/>
          <p:nvPr/>
        </p:nvSpPr>
        <p:spPr>
          <a:xfrm>
            <a:off x="3813048" y="302666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1" name="Shape 46"/>
          <p:cNvSpPr/>
          <p:nvPr/>
        </p:nvSpPr>
        <p:spPr>
          <a:xfrm>
            <a:off x="6016752" y="841248"/>
            <a:ext cx="475488" cy="475488"/>
          </a:xfrm>
          <a:prstGeom prst="ellipse">
            <a:avLst/>
          </a:prstGeom>
          <a:solidFill>
            <a:srgbClr val="EF6C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5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950976"/>
            <a:ext cx="256032" cy="256032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5440680" y="135331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Harvest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4" name="Shape 48"/>
          <p:cNvSpPr/>
          <p:nvPr/>
        </p:nvSpPr>
        <p:spPr>
          <a:xfrm>
            <a:off x="6528816" y="1078992"/>
            <a:ext cx="1188720" cy="0"/>
          </a:xfrm>
          <a:prstGeom prst="line">
            <a:avLst/>
          </a:prstGeom>
          <a:noFill/>
          <a:ln w="19050">
            <a:solidFill>
              <a:srgbClr val="BDBDBD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5" name="Shape 49"/>
          <p:cNvSpPr/>
          <p:nvPr/>
        </p:nvSpPr>
        <p:spPr>
          <a:xfrm>
            <a:off x="5440680" y="1554480"/>
            <a:ext cx="16276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6" name="Shape 50"/>
          <p:cNvSpPr/>
          <p:nvPr/>
        </p:nvSpPr>
        <p:spPr>
          <a:xfrm>
            <a:off x="5440680" y="1554480"/>
            <a:ext cx="1627632" cy="36576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8" name="Text 52"/>
          <p:cNvSpPr/>
          <p:nvPr/>
        </p:nvSpPr>
        <p:spPr>
          <a:xfrm>
            <a:off x="5550408" y="1892807"/>
            <a:ext cx="1408176" cy="259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Market Agent: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Analyzes mandi price trends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Predicts 2–4 week price movement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Recommends best nearby mandi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Suggests: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Harvest now OR wait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Best nearby mandi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9" name="Text 53"/>
          <p:cNvSpPr/>
          <p:nvPr/>
        </p:nvSpPr>
        <p:spPr>
          <a:xfrm>
            <a:off x="5550408" y="2066544"/>
            <a:ext cx="14081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2" name="Text 56"/>
          <p:cNvSpPr/>
          <p:nvPr/>
        </p:nvSpPr>
        <p:spPr>
          <a:xfrm>
            <a:off x="5550408" y="3207639"/>
            <a:ext cx="1408176" cy="422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3" name="Text 57"/>
          <p:cNvSpPr/>
          <p:nvPr/>
        </p:nvSpPr>
        <p:spPr>
          <a:xfrm>
            <a:off x="5550408" y="2715768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4" name="Text 58"/>
          <p:cNvSpPr/>
          <p:nvPr/>
        </p:nvSpPr>
        <p:spPr>
          <a:xfrm>
            <a:off x="5550408" y="2871216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5" name="Shape 59"/>
          <p:cNvSpPr/>
          <p:nvPr/>
        </p:nvSpPr>
        <p:spPr>
          <a:xfrm>
            <a:off x="7754112" y="841248"/>
            <a:ext cx="475488" cy="475488"/>
          </a:xfrm>
          <a:prstGeom prst="ellipse">
            <a:avLst/>
          </a:prstGeom>
          <a:solidFill>
            <a:srgbClr val="F9A82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950976"/>
            <a:ext cx="256032" cy="256032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7178040" y="135331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Selling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8" name="Shape 61"/>
          <p:cNvSpPr/>
          <p:nvPr/>
        </p:nvSpPr>
        <p:spPr>
          <a:xfrm>
            <a:off x="7178040" y="1554480"/>
            <a:ext cx="1627632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9" name="Shape 62"/>
          <p:cNvSpPr/>
          <p:nvPr/>
        </p:nvSpPr>
        <p:spPr>
          <a:xfrm>
            <a:off x="7178040" y="1554480"/>
            <a:ext cx="1627632" cy="36576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0" name="Text 63"/>
          <p:cNvSpPr/>
          <p:nvPr/>
        </p:nvSpPr>
        <p:spPr>
          <a:xfrm>
            <a:off x="7287768" y="1914523"/>
            <a:ext cx="1408176" cy="2762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Market Agent: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Where to sell (mandi / private buyer)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Estimated price range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Expected demand analysis</a:t>
            </a:r>
            <a:endParaRPr kumimoji="0" lang="en-US" sz="800" b="1" i="0" u="none" strike="noStrike" kern="0" cap="none" spc="0" normalizeH="0" baseline="0" noProof="0">
              <a:ln>
                <a:noFill/>
              </a:ln>
              <a:solidFill>
                <a:srgbClr val="1565C0"/>
              </a:solidFill>
              <a:effectLst/>
              <a:uLnTx/>
              <a:uFillTx/>
              <a:latin typeface="Manrope" panose="020B0604020202020204" charset="0"/>
              <a:ea typeface="Calibri" pitchFamily="34" charset="-122"/>
              <a:cs typeface="Calibri" pitchFamily="34" charset="-120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Finance Agent: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Final profit calculation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ROI analysis for the season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Recommendations for next cycle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0" name="Google Shape;105;p21">
            <a:extLst>
              <a:ext uri="{FF2B5EF4-FFF2-40B4-BE49-F238E27FC236}">
                <a16:creationId xmlns:a16="http://schemas.microsoft.com/office/drawing/2014/main" id="{BA7AFEF1-EC49-B446-F143-39166662BC1C}"/>
              </a:ext>
            </a:extLst>
          </p:cNvPr>
          <p:cNvSpPr txBox="1"/>
          <p:nvPr/>
        </p:nvSpPr>
        <p:spPr>
          <a:xfrm>
            <a:off x="88011" y="442072"/>
            <a:ext cx="2563749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/>
                <a:ea typeface="Manrope"/>
                <a:cs typeface="Manrope"/>
                <a:sym typeface="Manrope"/>
              </a:rPr>
              <a:t>Process Flow Diagram</a:t>
            </a:r>
            <a:endParaRPr kumimoji="0" lang="en-IN" sz="16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5440680" y="1625064"/>
            <a:ext cx="1627632" cy="19487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5581165" y="1610869"/>
            <a:ext cx="1346662" cy="21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1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"Kab harvest karu?"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0" name="Shape 24"/>
          <p:cNvSpPr/>
          <p:nvPr/>
        </p:nvSpPr>
        <p:spPr>
          <a:xfrm>
            <a:off x="228597" y="4640578"/>
            <a:ext cx="8577072" cy="297181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1" name="Text 25"/>
          <p:cNvSpPr/>
          <p:nvPr/>
        </p:nvSpPr>
        <p:spPr>
          <a:xfrm>
            <a:off x="228597" y="4643190"/>
            <a:ext cx="8577072" cy="29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Complete cycle: From "Hi" on WhatsApp to profit in bank, powered by 3 AI agents working together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47E24BD1-930C-79C1-A33A-C8062FF65C5E}"/>
              </a:ext>
            </a:extLst>
          </p:cNvPr>
          <p:cNvSpPr/>
          <p:nvPr/>
        </p:nvSpPr>
        <p:spPr>
          <a:xfrm>
            <a:off x="228597" y="1630289"/>
            <a:ext cx="1634047" cy="194878"/>
          </a:xfrm>
          <a:prstGeom prst="rect">
            <a:avLst/>
          </a:prstGeom>
          <a:solidFill>
            <a:srgbClr val="E2FA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5" name="Text 9">
            <a:extLst>
              <a:ext uri="{FF2B5EF4-FFF2-40B4-BE49-F238E27FC236}">
                <a16:creationId xmlns:a16="http://schemas.microsoft.com/office/drawing/2014/main" id="{1AA3A188-A4D5-A384-80D9-9D5150FB603E}"/>
              </a:ext>
            </a:extLst>
          </p:cNvPr>
          <p:cNvSpPr/>
          <p:nvPr/>
        </p:nvSpPr>
        <p:spPr>
          <a:xfrm>
            <a:off x="235128" y="1607682"/>
            <a:ext cx="1627631" cy="21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1" u="none" strike="noStrike" kern="0" cap="none" spc="0" normalizeH="0" baseline="0" noProof="0">
                <a:ln>
                  <a:noFill/>
                </a:ln>
                <a:solidFill>
                  <a:srgbClr val="25D366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Farmer sends "Hi“ on WhatsApp</a:t>
            </a:r>
          </a:p>
        </p:txBody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0CA3C789-DF51-490E-B344-370E62676953}"/>
              </a:ext>
            </a:extLst>
          </p:cNvPr>
          <p:cNvSpPr/>
          <p:nvPr/>
        </p:nvSpPr>
        <p:spPr>
          <a:xfrm>
            <a:off x="1969166" y="1633269"/>
            <a:ext cx="1630837" cy="194878"/>
          </a:xfrm>
          <a:prstGeom prst="rect">
            <a:avLst/>
          </a:prstGeom>
          <a:solidFill>
            <a:srgbClr val="D4F0D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8" name="Text 9">
            <a:extLst>
              <a:ext uri="{FF2B5EF4-FFF2-40B4-BE49-F238E27FC236}">
                <a16:creationId xmlns:a16="http://schemas.microsoft.com/office/drawing/2014/main" id="{9580361F-0487-E660-3393-10C76E9403AA}"/>
              </a:ext>
            </a:extLst>
          </p:cNvPr>
          <p:cNvSpPr/>
          <p:nvPr/>
        </p:nvSpPr>
        <p:spPr>
          <a:xfrm>
            <a:off x="1969166" y="1610662"/>
            <a:ext cx="1627631" cy="21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1" u="none" strike="noStrike" kern="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"Kaunsi fasal lagau?"</a:t>
            </a:r>
            <a:endParaRPr kumimoji="0" lang="en-US" sz="700" b="1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1" name="Shape 23">
            <a:extLst>
              <a:ext uri="{FF2B5EF4-FFF2-40B4-BE49-F238E27FC236}">
                <a16:creationId xmlns:a16="http://schemas.microsoft.com/office/drawing/2014/main" id="{9E54B37A-E88B-972E-32EA-19C981C0C20E}"/>
              </a:ext>
            </a:extLst>
          </p:cNvPr>
          <p:cNvSpPr/>
          <p:nvPr/>
        </p:nvSpPr>
        <p:spPr>
          <a:xfrm>
            <a:off x="228597" y="3211242"/>
            <a:ext cx="1633876" cy="330484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2" name="Text 24">
            <a:extLst>
              <a:ext uri="{FF2B5EF4-FFF2-40B4-BE49-F238E27FC236}">
                <a16:creationId xmlns:a16="http://schemas.microsoft.com/office/drawing/2014/main" id="{10429716-A650-9C30-643E-C237E95FEB74}"/>
              </a:ext>
            </a:extLst>
          </p:cNvPr>
          <p:cNvSpPr/>
          <p:nvPr/>
        </p:nvSpPr>
        <p:spPr>
          <a:xfrm>
            <a:off x="235128" y="3237697"/>
            <a:ext cx="1621391" cy="27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System creates Farmer Profile + Village Knowledge Graph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5" name="Shape 23">
            <a:extLst>
              <a:ext uri="{FF2B5EF4-FFF2-40B4-BE49-F238E27FC236}">
                <a16:creationId xmlns:a16="http://schemas.microsoft.com/office/drawing/2014/main" id="{084DCBFA-8804-A416-18B2-D5F833CECF44}"/>
              </a:ext>
            </a:extLst>
          </p:cNvPr>
          <p:cNvSpPr/>
          <p:nvPr/>
        </p:nvSpPr>
        <p:spPr>
          <a:xfrm>
            <a:off x="1965674" y="3207639"/>
            <a:ext cx="1634329" cy="330484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6" name="Text 24">
            <a:extLst>
              <a:ext uri="{FF2B5EF4-FFF2-40B4-BE49-F238E27FC236}">
                <a16:creationId xmlns:a16="http://schemas.microsoft.com/office/drawing/2014/main" id="{1A6BD6C2-223C-9C79-CFB5-CBE9488720F9}"/>
              </a:ext>
            </a:extLst>
          </p:cNvPr>
          <p:cNvSpPr/>
          <p:nvPr/>
        </p:nvSpPr>
        <p:spPr>
          <a:xfrm>
            <a:off x="1972200" y="3234969"/>
            <a:ext cx="1621391" cy="27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"Soybean → 18% higher margin"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50C2832E-5FFC-560C-9EF8-82447FF8CA5A}"/>
              </a:ext>
            </a:extLst>
          </p:cNvPr>
          <p:cNvSpPr/>
          <p:nvPr/>
        </p:nvSpPr>
        <p:spPr>
          <a:xfrm>
            <a:off x="3696793" y="1635949"/>
            <a:ext cx="1643775" cy="194878"/>
          </a:xfrm>
          <a:prstGeom prst="rect">
            <a:avLst/>
          </a:prstGeom>
          <a:solidFill>
            <a:srgbClr val="D4F0D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E483462A-B3B1-1F76-3383-85A3418DB2E8}"/>
              </a:ext>
            </a:extLst>
          </p:cNvPr>
          <p:cNvSpPr/>
          <p:nvPr/>
        </p:nvSpPr>
        <p:spPr>
          <a:xfrm>
            <a:off x="3709731" y="1613342"/>
            <a:ext cx="1627631" cy="21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1" u="none" strike="noStrike" kern="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“Agli baarish kab aa rahi hai?”</a:t>
            </a:r>
            <a:endParaRPr kumimoji="0" lang="en-US" sz="700" b="1" i="0" u="none" strike="noStrike" kern="0" cap="none" spc="0" normalizeH="0" baseline="0" noProof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5D33B313-BC5E-988E-32B0-7BA437C068E9}"/>
              </a:ext>
            </a:extLst>
          </p:cNvPr>
          <p:cNvSpPr/>
          <p:nvPr/>
        </p:nvSpPr>
        <p:spPr>
          <a:xfrm>
            <a:off x="7174834" y="1623058"/>
            <a:ext cx="1627632" cy="194878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AB2BE44-431F-D13F-832B-567B398C4900}"/>
              </a:ext>
            </a:extLst>
          </p:cNvPr>
          <p:cNvSpPr/>
          <p:nvPr/>
        </p:nvSpPr>
        <p:spPr>
          <a:xfrm>
            <a:off x="7315319" y="1608863"/>
            <a:ext cx="1346662" cy="213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00" b="1" i="1" u="none" strike="noStrike" kern="0" cap="none" spc="0" normalizeH="0" baseline="0" noProof="0">
                <a:ln>
                  <a:noFill/>
                </a:ln>
                <a:solidFill>
                  <a:srgbClr val="F9A82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"Kab harvest karu?"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rgbClr val="F9A825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B81152-22AB-FDA8-DD3C-AF1F5A1992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1504" y="483326"/>
            <a:ext cx="502921" cy="502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A screenshot of a chat&#10;&#10;AI-generated content may be incorrect.">
            <a:extLst>
              <a:ext uri="{FF2B5EF4-FFF2-40B4-BE49-F238E27FC236}">
                <a16:creationId xmlns:a16="http://schemas.microsoft.com/office/drawing/2014/main" id="{3ECA7078-AD25-D17C-846C-704736045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322" y="1029126"/>
            <a:ext cx="1923802" cy="3959513"/>
          </a:xfrm>
          <a:prstGeom prst="rect">
            <a:avLst/>
          </a:prstGeom>
        </p:spPr>
      </p:pic>
      <p:sp>
        <p:nvSpPr>
          <p:cNvPr id="4" name="Google Shape;105;p21">
            <a:extLst>
              <a:ext uri="{FF2B5EF4-FFF2-40B4-BE49-F238E27FC236}">
                <a16:creationId xmlns:a16="http://schemas.microsoft.com/office/drawing/2014/main" id="{2E164597-8264-1A1F-EB6B-0E85BB317884}"/>
              </a:ext>
            </a:extLst>
          </p:cNvPr>
          <p:cNvSpPr txBox="1"/>
          <p:nvPr/>
        </p:nvSpPr>
        <p:spPr>
          <a:xfrm>
            <a:off x="64293" y="433055"/>
            <a:ext cx="8858250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sz="1600" b="1" dirty="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 lang="en-US" sz="1600" dirty="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09612E-1E88-4D88-C140-1796905FAE02}"/>
              </a:ext>
            </a:extLst>
          </p:cNvPr>
          <p:cNvSpPr txBox="1"/>
          <p:nvPr/>
        </p:nvSpPr>
        <p:spPr>
          <a:xfrm>
            <a:off x="2725419" y="767284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Crop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9D01BD-EAFD-71A4-3195-4177900AA0DF}"/>
              </a:ext>
            </a:extLst>
          </p:cNvPr>
          <p:cNvSpPr txBox="1"/>
          <p:nvPr/>
        </p:nvSpPr>
        <p:spPr>
          <a:xfrm>
            <a:off x="5016701" y="765073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E2680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Market Agent</a:t>
            </a:r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0580B589-2924-CC90-C291-C2F3099675BE}"/>
              </a:ext>
            </a:extLst>
          </p:cNvPr>
          <p:cNvSpPr/>
          <p:nvPr/>
        </p:nvSpPr>
        <p:spPr>
          <a:xfrm>
            <a:off x="201817" y="1114425"/>
            <a:ext cx="2021408" cy="3800476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66881BD7-98A7-8468-F205-82C2659C22FD}"/>
              </a:ext>
            </a:extLst>
          </p:cNvPr>
          <p:cNvSpPr/>
          <p:nvPr/>
        </p:nvSpPr>
        <p:spPr>
          <a:xfrm>
            <a:off x="201817" y="1114425"/>
            <a:ext cx="2021408" cy="46066"/>
          </a:xfrm>
          <a:prstGeom prst="rect">
            <a:avLst/>
          </a:prstGeom>
          <a:solidFill>
            <a:srgbClr val="25D36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613F6020-4307-073D-DC6A-A39839FF8A77}"/>
              </a:ext>
            </a:extLst>
          </p:cNvPr>
          <p:cNvSpPr/>
          <p:nvPr/>
        </p:nvSpPr>
        <p:spPr>
          <a:xfrm>
            <a:off x="311544" y="1251585"/>
            <a:ext cx="1748859" cy="276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92CADBE0-F048-B890-55F1-2091A8D2FE0C}"/>
              </a:ext>
            </a:extLst>
          </p:cNvPr>
          <p:cNvSpPr/>
          <p:nvPr/>
        </p:nvSpPr>
        <p:spPr>
          <a:xfrm>
            <a:off x="311544" y="1407033"/>
            <a:ext cx="1748859" cy="276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00DB594-7BF9-1456-F2E2-DA724BACBA8B}"/>
              </a:ext>
            </a:extLst>
          </p:cNvPr>
          <p:cNvSpPr/>
          <p:nvPr/>
        </p:nvSpPr>
        <p:spPr>
          <a:xfrm>
            <a:off x="303580" y="1621485"/>
            <a:ext cx="1748859" cy="573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Simple via WhatsApp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No app download needed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Works on basic smartphones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Image, text &amp; voice support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800" b="0" i="0" u="none" strike="noStrike" kern="0" cap="none" spc="0" normalizeH="0" baseline="0" noProof="0" dirty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653ADDD4-F19C-11BF-7257-445C78C72BB7}"/>
              </a:ext>
            </a:extLst>
          </p:cNvPr>
          <p:cNvSpPr/>
          <p:nvPr/>
        </p:nvSpPr>
        <p:spPr>
          <a:xfrm>
            <a:off x="201814" y="1190234"/>
            <a:ext cx="2029375" cy="245443"/>
          </a:xfrm>
          <a:prstGeom prst="rect">
            <a:avLst/>
          </a:prstGeom>
          <a:solidFill>
            <a:srgbClr val="E2FAE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9C6BFC45-58F1-D6F5-0999-945087903FF0}"/>
              </a:ext>
            </a:extLst>
          </p:cNvPr>
          <p:cNvSpPr/>
          <p:nvPr/>
        </p:nvSpPr>
        <p:spPr>
          <a:xfrm>
            <a:off x="208345" y="1167627"/>
            <a:ext cx="2021407" cy="268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5D366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Kisaan-Friendly User Experience</a:t>
            </a: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EFEA83A4-D0A6-7CF1-5346-430BD5B8EB34}"/>
              </a:ext>
            </a:extLst>
          </p:cNvPr>
          <p:cNvSpPr/>
          <p:nvPr/>
        </p:nvSpPr>
        <p:spPr>
          <a:xfrm>
            <a:off x="303579" y="2401672"/>
            <a:ext cx="1748859" cy="601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Local Language First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Hindi &amp; regional languages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Easy for rural users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Voice-friendly interface</a:t>
            </a:r>
          </a:p>
          <a:p>
            <a:pPr marL="0" marR="0" lvl="0" indent="0" algn="l" defTabSz="914400" rtl="0" eaLnBrk="1" fontAlgn="auto" latinLnBrk="0" hangingPunct="1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900" b="0" i="0" u="none" strike="noStrike" kern="0" cap="none" spc="0" normalizeH="0" baseline="0" noProof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/>
              <a:cs typeface="Arial"/>
              <a:sym typeface="Arial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E82A736-5F36-B101-275C-C08BE457C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593" y="1777267"/>
            <a:ext cx="260997" cy="261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5698A7-0F58-4779-BA3D-492E3FD07F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5895" y="2594157"/>
            <a:ext cx="319613" cy="319613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6CEED4F8-FCF3-BB13-84DC-EC1EB3C01D9B}"/>
              </a:ext>
            </a:extLst>
          </p:cNvPr>
          <p:cNvSpPr/>
          <p:nvPr/>
        </p:nvSpPr>
        <p:spPr>
          <a:xfrm>
            <a:off x="303578" y="3168383"/>
            <a:ext cx="1888012" cy="81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Cost &amp; Efficiency First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Zero Cost Advisory for Farmers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Low-Latency Responses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cs typeface="Arial"/>
                <a:sym typeface="Arial"/>
              </a:rPr>
              <a:t>Concise and Actionable Recommendations</a:t>
            </a:r>
          </a:p>
          <a:p>
            <a:pPr marL="0" marR="0" lvl="0" indent="0" algn="l" defTabSz="914400" rtl="0" eaLnBrk="1" fontAlgn="auto" latinLnBrk="0" hangingPunct="1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endParaRPr kumimoji="0" lang="en-US" altLang="en-US" sz="900" b="0" i="0" u="none" strike="noStrike" kern="0" cap="none" spc="0" normalizeH="0" baseline="0" noProof="0">
              <a:ln>
                <a:noFill/>
              </a:ln>
              <a:solidFill>
                <a:srgbClr val="202729"/>
              </a:solidFill>
              <a:effectLst/>
              <a:uLnTx/>
              <a:uFillTx/>
              <a:latin typeface="Manrope"/>
              <a:cs typeface="Arial"/>
              <a:sym typeface="Arial"/>
            </a:endParaRPr>
          </a:p>
        </p:txBody>
      </p:sp>
      <p:pic>
        <p:nvPicPr>
          <p:cNvPr id="1030" name="Picture 6" descr="Farmer - Free farming and gardening icons">
            <a:extLst>
              <a:ext uri="{FF2B5EF4-FFF2-40B4-BE49-F238E27FC236}">
                <a16:creationId xmlns:a16="http://schemas.microsoft.com/office/drawing/2014/main" id="{C264209B-6DF7-1C77-C2C0-CCD6B6D4A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139" y="3387542"/>
            <a:ext cx="319613" cy="31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hat&#10;&#10;AI-generated content may be incorrect.">
            <a:extLst>
              <a:ext uri="{FF2B5EF4-FFF2-40B4-BE49-F238E27FC236}">
                <a16:creationId xmlns:a16="http://schemas.microsoft.com/office/drawing/2014/main" id="{68A2137D-1724-B578-5E8B-C52605ED10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4740" y="1029126"/>
            <a:ext cx="2044898" cy="39595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83A6A4-FFEA-5CD8-560B-C21EDB3CE394}"/>
              </a:ext>
            </a:extLst>
          </p:cNvPr>
          <p:cNvSpPr txBox="1"/>
          <p:nvPr/>
        </p:nvSpPr>
        <p:spPr>
          <a:xfrm>
            <a:off x="7328305" y="767283"/>
            <a:ext cx="1421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1438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Finance Agent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417633-78CB-EFF7-E325-EC73D480E1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2152" y="1039694"/>
            <a:ext cx="2101490" cy="39499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B5E6267-A8F0-E810-1500-779C04F443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1504" y="483326"/>
            <a:ext cx="502921" cy="5029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92;p19" title="Artboarddfghjk – 6.png">
            <a:extLst>
              <a:ext uri="{FF2B5EF4-FFF2-40B4-BE49-F238E27FC236}">
                <a16:creationId xmlns:a16="http://schemas.microsoft.com/office/drawing/2014/main" id="{8551AAC9-90B3-652D-E1F0-D4B0F0B7D84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5917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4"/>
          <p:cNvSpPr/>
          <p:nvPr/>
        </p:nvSpPr>
        <p:spPr>
          <a:xfrm>
            <a:off x="320040" y="548640"/>
            <a:ext cx="2279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/>
                <a:ea typeface="Manrope"/>
                <a:cs typeface="Manrope"/>
                <a:sym typeface="Manrope"/>
              </a:rPr>
              <a:t>Architecture Diagram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08960" y="568235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54680" y="568235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📱 Farmer via WhatsApp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sends "Hi" to begin journey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007147"/>
            <a:ext cx="0" cy="18288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98848" y="1171739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▼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26080" y="1235747"/>
            <a:ext cx="329184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71800" y="1235747"/>
            <a:ext cx="32004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Meta WhatsApp Business API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Webhook · Message Parser · Image Download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0" y="1628939"/>
            <a:ext cx="0" cy="164592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98848" y="1775243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▼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0" y="1820963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E8F5E9"/>
          </a:solidFill>
          <a:ln w="12700">
            <a:solidFill>
              <a:srgbClr val="66BB6A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788920" y="1820963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AWS API Gateway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558B2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Auth · Rate Limit · Secure Entry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2214155"/>
            <a:ext cx="0" cy="146304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98848" y="2342171"/>
            <a:ext cx="146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▼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017520" y="2387891"/>
            <a:ext cx="3108960" cy="393192"/>
          </a:xfrm>
          <a:prstGeom prst="roundRect">
            <a:avLst>
              <a:gd name="adj" fmla="val 18605"/>
            </a:avLst>
          </a:prstGeom>
          <a:solidFill>
            <a:srgbClr val="2E7D32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063240" y="2387891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Lambda Orchestrator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Intent Detection + Agent Routing (Nova Pro)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0" y="2781083"/>
            <a:ext cx="0" cy="210312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371600" y="2890811"/>
            <a:ext cx="46634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371600" y="2890811"/>
            <a:ext cx="0" cy="100584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35040" y="2890811"/>
            <a:ext cx="0" cy="100584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0040" y="2991395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E7D32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65760" y="299139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🌱 Crop Agent (Lambda)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Disease Detection · Treatment · Alerts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51760" y="2991395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565C0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697480" y="299139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💰 Finance Agent (Lambda)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Budget · Schemes · ROI · Loans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83480" y="2991395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65100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0" y="299139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📊 Market Agent (Lambda)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DDDD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Prices · Forecast · Selling Strategy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371600" y="3494315"/>
            <a:ext cx="0" cy="9144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703320" y="3494315"/>
            <a:ext cx="0" cy="9144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035040" y="3494315"/>
            <a:ext cx="0" cy="91440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040" y="3585755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1F8E9"/>
          </a:solidFill>
          <a:ln w="12700">
            <a:solidFill>
              <a:srgbClr val="AED581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" y="3585755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33691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Kindwise API · OpenWeather API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558B2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Disease Detection (85%+) · 7-Day Forecast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651760" y="3585755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697480" y="3585755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0D47A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Amazon Bedrock (Claude Sonnet 4)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1565C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Complex Reasoning · Budget Calc · Risk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83480" y="3585755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029200" y="3585755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BF360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AgMarkNet API (Govt of India)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1000+ Mandis · Real-time Prices · History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0040" y="4070387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63238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0040" y="4070387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 dirty="0">
                <a:ln>
                  <a:noFill/>
                </a:ln>
                <a:solidFill>
                  <a:srgbClr val="80CBC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AI + Data Layer  ·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DynamoDB (5 tables)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 |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S3 (Images &amp; Docs)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 |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Secrets Manager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546E7A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 |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CloudWatch (Monitoring)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0040" y="4472723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1B5E20"/>
          </a:solidFill>
          <a:ln/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20040" y="4472723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🤖 Amazon Bedrock LLM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1C784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 —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8E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Nova Pro (Primary)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1C784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+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8E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Claude Sonnet 4 (Complex)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81C784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  —  </a:t>
            </a: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C8E6C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Agent Prompts + Multilingual (Hindi · English)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572000" y="4417859"/>
            <a:ext cx="0" cy="54864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315200" y="522515"/>
            <a:ext cx="1691640" cy="233172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60920" y="568235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AWS Services Used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379208" y="915707"/>
            <a:ext cx="109728" cy="109728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43800" y="86084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Amazon Bedrock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Nova Pro + Claude Sonnet 4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379208" y="1190027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543800" y="113516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AWS Lambda (x4)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Orchestrator + 3 Agents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379208" y="1464347"/>
            <a:ext cx="109728" cy="109728"/>
          </a:xfrm>
          <a:prstGeom prst="ellipse">
            <a:avLst/>
          </a:prstGeom>
          <a:solidFill>
            <a:srgbClr val="2962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543800" y="140948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Amazon DynamoDB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5 tables, sub-ms latency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379208" y="1738667"/>
            <a:ext cx="109728" cy="109728"/>
          </a:xfrm>
          <a:prstGeom prst="ellipse">
            <a:avLst/>
          </a:prstGeom>
          <a:solidFill>
            <a:srgbClr val="00897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543800" y="168380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Amazon S3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Crop images &amp; documents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379208" y="2012987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7543800" y="195812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API Gateway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Secure webhook entry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379208" y="2287307"/>
            <a:ext cx="109728" cy="109728"/>
          </a:xfrm>
          <a:prstGeom prst="ellipse">
            <a:avLst/>
          </a:prstGeom>
          <a:solidFill>
            <a:srgbClr val="D8431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543800" y="223244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Secrets Manager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Encrypted API keys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7379208" y="2561627"/>
            <a:ext cx="109728" cy="109728"/>
          </a:xfrm>
          <a:prstGeom prst="ellipse">
            <a:avLst/>
          </a:prstGeom>
          <a:solidFill>
            <a:srgbClr val="7B1FA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543800" y="250676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CloudWatch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Logs, metrics, alerts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315200" y="2945675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360920" y="2991395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E651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External APIs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379208" y="3256571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7543800" y="321999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Kindwise API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 — Disease detection 85%+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379208" y="3485171"/>
            <a:ext cx="109728" cy="109728"/>
          </a:xfrm>
          <a:prstGeom prst="ellipse">
            <a:avLst/>
          </a:prstGeom>
          <a:solidFill>
            <a:srgbClr val="FF6F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543800" y="344859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AgMarkNet API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 — Govt mandi prices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379208" y="3713771"/>
            <a:ext cx="109728" cy="109728"/>
          </a:xfrm>
          <a:prstGeom prst="ellipse">
            <a:avLst/>
          </a:prstGeom>
          <a:solidFill>
            <a:srgbClr val="0288D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7543800" y="3677195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1A1F2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OpenWeather API</a:t>
            </a: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 — 7-day forecasts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320040" y="450015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1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sym typeface="Arial"/>
              </a:rPr>
              <a:t>Region: ap-south-1 (Mumbai)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sp>
        <p:nvSpPr>
          <p:cNvPr id="72" name="Shape 48">
            <a:extLst>
              <a:ext uri="{FF2B5EF4-FFF2-40B4-BE49-F238E27FC236}">
                <a16:creationId xmlns:a16="http://schemas.microsoft.com/office/drawing/2014/main" id="{32395B9F-1CF4-6366-7227-868642AF06A4}"/>
              </a:ext>
            </a:extLst>
          </p:cNvPr>
          <p:cNvSpPr/>
          <p:nvPr/>
        </p:nvSpPr>
        <p:spPr>
          <a:xfrm>
            <a:off x="4632579" y="4607665"/>
            <a:ext cx="0" cy="48918"/>
          </a:xfrm>
          <a:prstGeom prst="line">
            <a:avLst/>
          </a:prstGeom>
          <a:noFill/>
          <a:ln w="16510">
            <a:solidFill>
              <a:srgbClr val="43A04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3" name="Shape 49">
            <a:extLst>
              <a:ext uri="{FF2B5EF4-FFF2-40B4-BE49-F238E27FC236}">
                <a16:creationId xmlns:a16="http://schemas.microsoft.com/office/drawing/2014/main" id="{55B12F5D-9B7C-DB13-3D56-E55F5490D442}"/>
              </a:ext>
            </a:extLst>
          </p:cNvPr>
          <p:cNvSpPr/>
          <p:nvPr/>
        </p:nvSpPr>
        <p:spPr>
          <a:xfrm>
            <a:off x="3432429" y="4891739"/>
            <a:ext cx="2400300" cy="168157"/>
          </a:xfrm>
          <a:prstGeom prst="roundRect">
            <a:avLst>
              <a:gd name="adj" fmla="val 12727"/>
            </a:avLst>
          </a:prstGeom>
          <a:solidFill>
            <a:srgbClr val="25D3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4" name="Text 50">
            <a:extLst>
              <a:ext uri="{FF2B5EF4-FFF2-40B4-BE49-F238E27FC236}">
                <a16:creationId xmlns:a16="http://schemas.microsoft.com/office/drawing/2014/main" id="{223AF2D6-D9DC-0FB7-1632-97ED0F04E75A}"/>
              </a:ext>
            </a:extLst>
          </p:cNvPr>
          <p:cNvSpPr/>
          <p:nvPr/>
        </p:nvSpPr>
        <p:spPr>
          <a:xfrm>
            <a:off x="3432429" y="4891739"/>
            <a:ext cx="2400300" cy="16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✅  Personalized WhatsApp Response to Farmer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nrope" panose="020B0604020202020204" charset="0"/>
              <a:ea typeface="+mn-ea"/>
              <a:cs typeface="Arial"/>
              <a:sym typeface="Arial"/>
            </a:endParaRPr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D3F2003D-0056-66A8-3C72-01E6C24C3254}"/>
              </a:ext>
            </a:extLst>
          </p:cNvPr>
          <p:cNvSpPr/>
          <p:nvPr/>
        </p:nvSpPr>
        <p:spPr>
          <a:xfrm flipH="1">
            <a:off x="4572000" y="4810683"/>
            <a:ext cx="0" cy="64376"/>
          </a:xfrm>
          <a:prstGeom prst="line">
            <a:avLst/>
          </a:prstGeom>
          <a:noFill/>
          <a:ln w="15240">
            <a:solidFill>
              <a:srgbClr val="99999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E56FAB-7FC3-BC45-BCF2-9C673C019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" y="824267"/>
            <a:ext cx="502921" cy="5029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CB7A91FB-BBA3-8193-ED1F-BF78E677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4638E7C7-3E11-4FF9-54B6-FAE3CE6976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" y="5917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1">
            <a:extLst>
              <a:ext uri="{FF2B5EF4-FFF2-40B4-BE49-F238E27FC236}">
                <a16:creationId xmlns:a16="http://schemas.microsoft.com/office/drawing/2014/main" id="{CCC0EEBE-5D32-9327-AF13-E8E8334CAAD4}"/>
              </a:ext>
            </a:extLst>
          </p:cNvPr>
          <p:cNvSpPr txBox="1"/>
          <p:nvPr/>
        </p:nvSpPr>
        <p:spPr>
          <a:xfrm>
            <a:off x="64293" y="433055"/>
            <a:ext cx="3423490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/>
                <a:ea typeface="Manrope"/>
                <a:cs typeface="Manrope"/>
                <a:sym typeface="Manrope"/>
              </a:rPr>
              <a:t>AWS Architecture Diagram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69D86-3F26-1CDF-92F8-F941D38056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03"/>
          <a:stretch>
            <a:fillRect/>
          </a:stretch>
        </p:blipFill>
        <p:spPr>
          <a:xfrm>
            <a:off x="64293" y="836023"/>
            <a:ext cx="9079707" cy="4251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EA3BB-779C-8E7F-D756-E162D51B32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900" y="1878565"/>
            <a:ext cx="547311" cy="54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601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5;p21">
            <a:extLst>
              <a:ext uri="{FF2B5EF4-FFF2-40B4-BE49-F238E27FC236}">
                <a16:creationId xmlns:a16="http://schemas.microsoft.com/office/drawing/2014/main" id="{09AF31EF-8BDC-0FAE-86F5-B2D10DF80855}"/>
              </a:ext>
            </a:extLst>
          </p:cNvPr>
          <p:cNvSpPr txBox="1"/>
          <p:nvPr/>
        </p:nvSpPr>
        <p:spPr>
          <a:xfrm>
            <a:off x="64293" y="433055"/>
            <a:ext cx="8858250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/>
                <a:ea typeface="Manrope"/>
                <a:cs typeface="Manrope"/>
                <a:sym typeface="Manrope"/>
              </a:rPr>
              <a:t>Technologies Used in the Prototype: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FEF9FFF-2BC8-1126-85D9-1463A93DA83E}"/>
              </a:ext>
            </a:extLst>
          </p:cNvPr>
          <p:cNvSpPr/>
          <p:nvPr/>
        </p:nvSpPr>
        <p:spPr>
          <a:xfrm>
            <a:off x="150876" y="953838"/>
            <a:ext cx="2866644" cy="1928332"/>
          </a:xfrm>
          <a:prstGeom prst="rect">
            <a:avLst/>
          </a:prstGeom>
          <a:solidFill>
            <a:srgbClr val="F8FA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41E3D03-0017-23EA-51B5-8BDE80541DDC}"/>
              </a:ext>
            </a:extLst>
          </p:cNvPr>
          <p:cNvSpPr/>
          <p:nvPr/>
        </p:nvSpPr>
        <p:spPr>
          <a:xfrm>
            <a:off x="150876" y="953837"/>
            <a:ext cx="2866644" cy="28803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6BDE4F0-02EB-A34B-A722-BE3F4AB27FB8}"/>
              </a:ext>
            </a:extLst>
          </p:cNvPr>
          <p:cNvSpPr/>
          <p:nvPr/>
        </p:nvSpPr>
        <p:spPr>
          <a:xfrm>
            <a:off x="233172" y="953837"/>
            <a:ext cx="27637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🌐  Interface Layer</a:t>
            </a:r>
            <a:endParaRPr kumimoji="0" lang="en-US" sz="78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7AD1BFD-3A9F-ABE1-64B5-84AB0764F0FF}"/>
              </a:ext>
            </a:extLst>
          </p:cNvPr>
          <p:cNvSpPr/>
          <p:nvPr/>
        </p:nvSpPr>
        <p:spPr>
          <a:xfrm>
            <a:off x="219456" y="128302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E430912-FF0C-32EF-27A1-3B97C2E1BDDD}"/>
              </a:ext>
            </a:extLst>
          </p:cNvPr>
          <p:cNvSpPr/>
          <p:nvPr/>
        </p:nvSpPr>
        <p:spPr>
          <a:xfrm>
            <a:off x="219456" y="131045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4A96B2BA-2DCE-6995-D606-F40AEC2E7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1331027"/>
            <a:ext cx="205740" cy="205740"/>
          </a:xfrm>
          <a:prstGeom prst="rect">
            <a:avLst/>
          </a:prstGeom>
        </p:spPr>
      </p:pic>
      <p:sp>
        <p:nvSpPr>
          <p:cNvPr id="9" name="Text 8">
            <a:extLst>
              <a:ext uri="{FF2B5EF4-FFF2-40B4-BE49-F238E27FC236}">
                <a16:creationId xmlns:a16="http://schemas.microsoft.com/office/drawing/2014/main" id="{E0E0B896-5E82-D624-2E2B-C586B3292E95}"/>
              </a:ext>
            </a:extLst>
          </p:cNvPr>
          <p:cNvSpPr/>
          <p:nvPr/>
        </p:nvSpPr>
        <p:spPr>
          <a:xfrm>
            <a:off x="521208" y="131731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WhatsApp Business API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Hindi-first farmer conversational access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AA563AF3-4980-8CFA-AAD8-04B850B01567}"/>
              </a:ext>
            </a:extLst>
          </p:cNvPr>
          <p:cNvSpPr/>
          <p:nvPr/>
        </p:nvSpPr>
        <p:spPr>
          <a:xfrm>
            <a:off x="219456" y="1708217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48A021B-6FEB-FE09-1875-B2D45376B635}"/>
              </a:ext>
            </a:extLst>
          </p:cNvPr>
          <p:cNvSpPr/>
          <p:nvPr/>
        </p:nvSpPr>
        <p:spPr>
          <a:xfrm>
            <a:off x="219456" y="1735649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67A003C4-39C4-08CD-5778-396500ECA6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1756223"/>
            <a:ext cx="205740" cy="205740"/>
          </a:xfrm>
          <a:prstGeom prst="rect">
            <a:avLst/>
          </a:prstGeom>
        </p:spPr>
      </p:pic>
      <p:sp>
        <p:nvSpPr>
          <p:cNvPr id="13" name="Text 11">
            <a:extLst>
              <a:ext uri="{FF2B5EF4-FFF2-40B4-BE49-F238E27FC236}">
                <a16:creationId xmlns:a16="http://schemas.microsoft.com/office/drawing/2014/main" id="{9057FA68-7CBA-5192-8834-674D47B7D1B7}"/>
              </a:ext>
            </a:extLst>
          </p:cNvPr>
          <p:cNvSpPr/>
          <p:nvPr/>
        </p:nvSpPr>
        <p:spPr>
          <a:xfrm>
            <a:off x="521208" y="1742507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Meta Cloud API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Webhook, message parser, image download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8EAAF16-4E04-7A71-154D-B0E1E4F746D8}"/>
              </a:ext>
            </a:extLst>
          </p:cNvPr>
          <p:cNvSpPr/>
          <p:nvPr/>
        </p:nvSpPr>
        <p:spPr>
          <a:xfrm>
            <a:off x="219456" y="2133413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773F57E-EF2C-BF2B-8787-BA8E3DC73EAE}"/>
              </a:ext>
            </a:extLst>
          </p:cNvPr>
          <p:cNvSpPr/>
          <p:nvPr/>
        </p:nvSpPr>
        <p:spPr>
          <a:xfrm>
            <a:off x="219456" y="2160845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F8E733C3-E93F-9872-6CFB-59111291E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2181419"/>
            <a:ext cx="205740" cy="205740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16B5D2CD-3790-230F-217C-05BC26A09F0A}"/>
              </a:ext>
            </a:extLst>
          </p:cNvPr>
          <p:cNvSpPr/>
          <p:nvPr/>
        </p:nvSpPr>
        <p:spPr>
          <a:xfrm>
            <a:off x="521208" y="2167703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Amazon S3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Crop images, documents, media storage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0906B93-5D86-3B96-6437-C146100385F0}"/>
              </a:ext>
            </a:extLst>
          </p:cNvPr>
          <p:cNvSpPr/>
          <p:nvPr/>
        </p:nvSpPr>
        <p:spPr>
          <a:xfrm>
            <a:off x="3127248" y="953838"/>
            <a:ext cx="2866644" cy="1928332"/>
          </a:xfrm>
          <a:prstGeom prst="rect">
            <a:avLst/>
          </a:prstGeom>
          <a:solidFill>
            <a:srgbClr val="F8FA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2D8955F-39B0-D9CB-34D4-B32507BBCD18}"/>
              </a:ext>
            </a:extLst>
          </p:cNvPr>
          <p:cNvSpPr/>
          <p:nvPr/>
        </p:nvSpPr>
        <p:spPr>
          <a:xfrm>
            <a:off x="3127248" y="953837"/>
            <a:ext cx="2866644" cy="2880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BC705FB-C95A-F95B-49FC-2933BB9EE620}"/>
              </a:ext>
            </a:extLst>
          </p:cNvPr>
          <p:cNvSpPr/>
          <p:nvPr/>
        </p:nvSpPr>
        <p:spPr>
          <a:xfrm>
            <a:off x="3209544" y="953837"/>
            <a:ext cx="27637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⚙️  Backend &amp; Agent Orchestration</a:t>
            </a:r>
            <a:endParaRPr kumimoji="0" lang="en-US" sz="78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8CA53D4-0B4C-6FDE-821E-7A5099A4BB7A}"/>
              </a:ext>
            </a:extLst>
          </p:cNvPr>
          <p:cNvSpPr/>
          <p:nvPr/>
        </p:nvSpPr>
        <p:spPr>
          <a:xfrm>
            <a:off x="3195828" y="128302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08311AC7-5659-D712-6933-DDAB58675A49}"/>
              </a:ext>
            </a:extLst>
          </p:cNvPr>
          <p:cNvSpPr/>
          <p:nvPr/>
        </p:nvSpPr>
        <p:spPr>
          <a:xfrm>
            <a:off x="3195828" y="131045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5745FAF5-A60A-5A40-7B68-C2A559877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3260" y="1331027"/>
            <a:ext cx="205740" cy="205740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D9E21D86-CBD3-2B9E-1D99-FC2CA370A40D}"/>
              </a:ext>
            </a:extLst>
          </p:cNvPr>
          <p:cNvSpPr/>
          <p:nvPr/>
        </p:nvSpPr>
        <p:spPr>
          <a:xfrm>
            <a:off x="3497580" y="131731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 dirty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Python 3.11 Runtime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 dirty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Lambda runtime for all 4 functions</a:t>
            </a:r>
            <a:endParaRPr kumimoji="0" lang="en-US" sz="67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496F9E76-77D1-B5B3-E553-238C92D5DF85}"/>
              </a:ext>
            </a:extLst>
          </p:cNvPr>
          <p:cNvSpPr/>
          <p:nvPr/>
        </p:nvSpPr>
        <p:spPr>
          <a:xfrm>
            <a:off x="3195828" y="1708217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2AE0CFD9-D45C-E715-42AA-E02CFBD37BD8}"/>
              </a:ext>
            </a:extLst>
          </p:cNvPr>
          <p:cNvSpPr/>
          <p:nvPr/>
        </p:nvSpPr>
        <p:spPr>
          <a:xfrm>
            <a:off x="3195828" y="1735649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0AA40F4D-1756-A5E9-3C36-D501A57E1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3260" y="1756223"/>
            <a:ext cx="205740" cy="205740"/>
          </a:xfrm>
          <a:prstGeom prst="rect">
            <a:avLst/>
          </a:prstGeom>
        </p:spPr>
      </p:pic>
      <p:sp>
        <p:nvSpPr>
          <p:cNvPr id="28" name="Text 23">
            <a:extLst>
              <a:ext uri="{FF2B5EF4-FFF2-40B4-BE49-F238E27FC236}">
                <a16:creationId xmlns:a16="http://schemas.microsoft.com/office/drawing/2014/main" id="{CC31BBEE-824C-472A-039D-844FA5C296F5}"/>
              </a:ext>
            </a:extLst>
          </p:cNvPr>
          <p:cNvSpPr/>
          <p:nvPr/>
        </p:nvSpPr>
        <p:spPr>
          <a:xfrm>
            <a:off x="3497580" y="1742507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AWS Lambda (x4)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Orchestrator + Crop + Market + Finance agents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0673252A-4301-A578-7310-79F08D4E55B2}"/>
              </a:ext>
            </a:extLst>
          </p:cNvPr>
          <p:cNvSpPr/>
          <p:nvPr/>
        </p:nvSpPr>
        <p:spPr>
          <a:xfrm>
            <a:off x="3195828" y="2133413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1B209172-AC45-6DDB-AA07-81F749A685E2}"/>
              </a:ext>
            </a:extLst>
          </p:cNvPr>
          <p:cNvSpPr/>
          <p:nvPr/>
        </p:nvSpPr>
        <p:spPr>
          <a:xfrm>
            <a:off x="3195828" y="2160845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7E358CCD-CCE5-0BC4-B0A1-775FCE3164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3260" y="2181419"/>
            <a:ext cx="205740" cy="205740"/>
          </a:xfrm>
          <a:prstGeom prst="rect">
            <a:avLst/>
          </a:prstGeom>
        </p:spPr>
      </p:pic>
      <p:sp>
        <p:nvSpPr>
          <p:cNvPr id="32" name="Text 26">
            <a:extLst>
              <a:ext uri="{FF2B5EF4-FFF2-40B4-BE49-F238E27FC236}">
                <a16:creationId xmlns:a16="http://schemas.microsoft.com/office/drawing/2014/main" id="{CA0FB453-46F8-2876-D2CA-3F8079ADCF65}"/>
              </a:ext>
            </a:extLst>
          </p:cNvPr>
          <p:cNvSpPr/>
          <p:nvPr/>
        </p:nvSpPr>
        <p:spPr>
          <a:xfrm>
            <a:off x="3497580" y="2167703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AWS API Gateway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Secure webhook entry + rate limiting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A1FA5418-9102-A6A9-5FA6-589B6685B3B7}"/>
              </a:ext>
            </a:extLst>
          </p:cNvPr>
          <p:cNvSpPr/>
          <p:nvPr/>
        </p:nvSpPr>
        <p:spPr>
          <a:xfrm>
            <a:off x="6103620" y="953838"/>
            <a:ext cx="2866644" cy="1928332"/>
          </a:xfrm>
          <a:prstGeom prst="rect">
            <a:avLst/>
          </a:prstGeom>
          <a:solidFill>
            <a:srgbClr val="F8FA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66161410-6505-42CD-5910-D562A2949C76}"/>
              </a:ext>
            </a:extLst>
          </p:cNvPr>
          <p:cNvSpPr/>
          <p:nvPr/>
        </p:nvSpPr>
        <p:spPr>
          <a:xfrm>
            <a:off x="6103620" y="953837"/>
            <a:ext cx="2866644" cy="28803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BFDA0D4A-665E-124E-4061-DD9C6EA1B2D5}"/>
              </a:ext>
            </a:extLst>
          </p:cNvPr>
          <p:cNvSpPr/>
          <p:nvPr/>
        </p:nvSpPr>
        <p:spPr>
          <a:xfrm>
            <a:off x="6185916" y="953837"/>
            <a:ext cx="276377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🧠  AI &amp; ML Layer</a:t>
            </a:r>
            <a:endParaRPr kumimoji="0" lang="en-US" sz="78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CBDE291F-2E9C-D93B-52EB-92544E5EC2DF}"/>
              </a:ext>
            </a:extLst>
          </p:cNvPr>
          <p:cNvSpPr/>
          <p:nvPr/>
        </p:nvSpPr>
        <p:spPr>
          <a:xfrm>
            <a:off x="6172200" y="128302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6DF7AFA8-C028-8180-3DC1-8B151601A42D}"/>
              </a:ext>
            </a:extLst>
          </p:cNvPr>
          <p:cNvSpPr/>
          <p:nvPr/>
        </p:nvSpPr>
        <p:spPr>
          <a:xfrm>
            <a:off x="6172200" y="131045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F14074F1-5168-7945-58EE-562B0091F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31027"/>
            <a:ext cx="205740" cy="205740"/>
          </a:xfrm>
          <a:prstGeom prst="rect">
            <a:avLst/>
          </a:prstGeom>
        </p:spPr>
      </p:pic>
      <p:sp>
        <p:nvSpPr>
          <p:cNvPr id="39" name="Text 32">
            <a:extLst>
              <a:ext uri="{FF2B5EF4-FFF2-40B4-BE49-F238E27FC236}">
                <a16:creationId xmlns:a16="http://schemas.microsoft.com/office/drawing/2014/main" id="{E5F482C0-C952-2A13-A211-E3BABA2FEF8F}"/>
              </a:ext>
            </a:extLst>
          </p:cNvPr>
          <p:cNvSpPr/>
          <p:nvPr/>
        </p:nvSpPr>
        <p:spPr>
          <a:xfrm>
            <a:off x="6473952" y="131731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Bedrock (Amazon Nova Pro)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Primary LLM: routing, Hindi, fast responses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9739B9C3-43A7-7C5C-7F9B-94943A8B55DF}"/>
              </a:ext>
            </a:extLst>
          </p:cNvPr>
          <p:cNvSpPr/>
          <p:nvPr/>
        </p:nvSpPr>
        <p:spPr>
          <a:xfrm>
            <a:off x="6172200" y="166021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1" name="Shape 34">
            <a:extLst>
              <a:ext uri="{FF2B5EF4-FFF2-40B4-BE49-F238E27FC236}">
                <a16:creationId xmlns:a16="http://schemas.microsoft.com/office/drawing/2014/main" id="{9312BE37-EE08-1DA0-FF58-3CB2D2BE47C6}"/>
              </a:ext>
            </a:extLst>
          </p:cNvPr>
          <p:cNvSpPr/>
          <p:nvPr/>
        </p:nvSpPr>
        <p:spPr>
          <a:xfrm>
            <a:off x="6172200" y="168764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42" name="Image 7" descr="preencoded.png">
            <a:extLst>
              <a:ext uri="{FF2B5EF4-FFF2-40B4-BE49-F238E27FC236}">
                <a16:creationId xmlns:a16="http://schemas.microsoft.com/office/drawing/2014/main" id="{A95504BC-5B36-CBA8-212E-30A1D96895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708217"/>
            <a:ext cx="205740" cy="205740"/>
          </a:xfrm>
          <a:prstGeom prst="rect">
            <a:avLst/>
          </a:prstGeom>
        </p:spPr>
      </p:pic>
      <p:sp>
        <p:nvSpPr>
          <p:cNvPr id="43" name="Text 35">
            <a:extLst>
              <a:ext uri="{FF2B5EF4-FFF2-40B4-BE49-F238E27FC236}">
                <a16:creationId xmlns:a16="http://schemas.microsoft.com/office/drawing/2014/main" id="{EBBAFE45-8133-D049-10C2-4830ABDEA489}"/>
              </a:ext>
            </a:extLst>
          </p:cNvPr>
          <p:cNvSpPr/>
          <p:nvPr/>
        </p:nvSpPr>
        <p:spPr>
          <a:xfrm>
            <a:off x="6473952" y="169450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Bedrock (Claude Sonnet 4)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Complex reasoning, budget calc, analysis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4" name="Shape 36">
            <a:extLst>
              <a:ext uri="{FF2B5EF4-FFF2-40B4-BE49-F238E27FC236}">
                <a16:creationId xmlns:a16="http://schemas.microsoft.com/office/drawing/2014/main" id="{BE2D38D5-90C3-85B4-07D6-DBEC1598A016}"/>
              </a:ext>
            </a:extLst>
          </p:cNvPr>
          <p:cNvSpPr/>
          <p:nvPr/>
        </p:nvSpPr>
        <p:spPr>
          <a:xfrm>
            <a:off x="6172200" y="203740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8DFB707E-6E3F-3BCA-5FAC-86AE5FD298F1}"/>
              </a:ext>
            </a:extLst>
          </p:cNvPr>
          <p:cNvSpPr/>
          <p:nvPr/>
        </p:nvSpPr>
        <p:spPr>
          <a:xfrm>
            <a:off x="6172200" y="206483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46" name="Image 8" descr="preencoded.png">
            <a:extLst>
              <a:ext uri="{FF2B5EF4-FFF2-40B4-BE49-F238E27FC236}">
                <a16:creationId xmlns:a16="http://schemas.microsoft.com/office/drawing/2014/main" id="{CB90C01C-3C51-C0D0-76E0-0CFE8F7DD4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9632" y="2085407"/>
            <a:ext cx="205740" cy="205740"/>
          </a:xfrm>
          <a:prstGeom prst="rect">
            <a:avLst/>
          </a:prstGeom>
        </p:spPr>
      </p:pic>
      <p:sp>
        <p:nvSpPr>
          <p:cNvPr id="47" name="Text 38">
            <a:extLst>
              <a:ext uri="{FF2B5EF4-FFF2-40B4-BE49-F238E27FC236}">
                <a16:creationId xmlns:a16="http://schemas.microsoft.com/office/drawing/2014/main" id="{9C90C1B7-6BC6-88B6-9C6A-77750D1C6923}"/>
              </a:ext>
            </a:extLst>
          </p:cNvPr>
          <p:cNvSpPr/>
          <p:nvPr/>
        </p:nvSpPr>
        <p:spPr>
          <a:xfrm>
            <a:off x="6473952" y="207169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Kindwise Crop Health API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Disease detection 85%+, 50+ diseases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08452D5B-CCD3-D73A-E7D1-5CF2DA9A8290}"/>
              </a:ext>
            </a:extLst>
          </p:cNvPr>
          <p:cNvSpPr/>
          <p:nvPr/>
        </p:nvSpPr>
        <p:spPr>
          <a:xfrm>
            <a:off x="6172200" y="2414591"/>
            <a:ext cx="2729484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9" name="Shape 40">
            <a:extLst>
              <a:ext uri="{FF2B5EF4-FFF2-40B4-BE49-F238E27FC236}">
                <a16:creationId xmlns:a16="http://schemas.microsoft.com/office/drawing/2014/main" id="{B4DDF219-67B9-EB64-B9EF-513433B8C94B}"/>
              </a:ext>
            </a:extLst>
          </p:cNvPr>
          <p:cNvSpPr/>
          <p:nvPr/>
        </p:nvSpPr>
        <p:spPr>
          <a:xfrm>
            <a:off x="6172200" y="2442023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50" name="Image 9" descr="preencoded.png">
            <a:extLst>
              <a:ext uri="{FF2B5EF4-FFF2-40B4-BE49-F238E27FC236}">
                <a16:creationId xmlns:a16="http://schemas.microsoft.com/office/drawing/2014/main" id="{1BF11335-C504-87F5-589D-89B1BD69E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462597"/>
            <a:ext cx="205740" cy="205740"/>
          </a:xfrm>
          <a:prstGeom prst="rect">
            <a:avLst/>
          </a:prstGeom>
        </p:spPr>
      </p:pic>
      <p:sp>
        <p:nvSpPr>
          <p:cNvPr id="51" name="Text 41">
            <a:extLst>
              <a:ext uri="{FF2B5EF4-FFF2-40B4-BE49-F238E27FC236}">
                <a16:creationId xmlns:a16="http://schemas.microsoft.com/office/drawing/2014/main" id="{199239CC-DC2A-881A-F9DC-BF3F93C05AC3}"/>
              </a:ext>
            </a:extLst>
          </p:cNvPr>
          <p:cNvSpPr/>
          <p:nvPr/>
        </p:nvSpPr>
        <p:spPr>
          <a:xfrm>
            <a:off x="6473952" y="2448881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AgMarkNet + OpenWeather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Govt mandi prices + 7-day weather forecasts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2" name="Shape 42">
            <a:extLst>
              <a:ext uri="{FF2B5EF4-FFF2-40B4-BE49-F238E27FC236}">
                <a16:creationId xmlns:a16="http://schemas.microsoft.com/office/drawing/2014/main" id="{013B7E05-62E4-B5E4-A988-8D4BDEC3E48D}"/>
              </a:ext>
            </a:extLst>
          </p:cNvPr>
          <p:cNvSpPr/>
          <p:nvPr/>
        </p:nvSpPr>
        <p:spPr>
          <a:xfrm>
            <a:off x="150876" y="2959035"/>
            <a:ext cx="4354830" cy="1884426"/>
          </a:xfrm>
          <a:prstGeom prst="rect">
            <a:avLst/>
          </a:prstGeom>
          <a:solidFill>
            <a:srgbClr val="F8FA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E7C5BF03-C303-C49F-0EB6-A66657421334}"/>
              </a:ext>
            </a:extLst>
          </p:cNvPr>
          <p:cNvSpPr/>
          <p:nvPr/>
        </p:nvSpPr>
        <p:spPr>
          <a:xfrm>
            <a:off x="150876" y="2959036"/>
            <a:ext cx="4354830" cy="2880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90FA0DB1-FD6C-BFAC-7B2D-04836E71FCBF}"/>
              </a:ext>
            </a:extLst>
          </p:cNvPr>
          <p:cNvSpPr/>
          <p:nvPr/>
        </p:nvSpPr>
        <p:spPr>
          <a:xfrm>
            <a:off x="233172" y="2959036"/>
            <a:ext cx="4251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📊  Data &amp; Storage</a:t>
            </a:r>
            <a:endParaRPr kumimoji="0" lang="en-US" sz="78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5" name="Shape 45">
            <a:extLst>
              <a:ext uri="{FF2B5EF4-FFF2-40B4-BE49-F238E27FC236}">
                <a16:creationId xmlns:a16="http://schemas.microsoft.com/office/drawing/2014/main" id="{D202631A-64EA-E066-1E24-7FAA2582B67E}"/>
              </a:ext>
            </a:extLst>
          </p:cNvPr>
          <p:cNvSpPr/>
          <p:nvPr/>
        </p:nvSpPr>
        <p:spPr>
          <a:xfrm>
            <a:off x="219456" y="3288220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6" name="Shape 46">
            <a:extLst>
              <a:ext uri="{FF2B5EF4-FFF2-40B4-BE49-F238E27FC236}">
                <a16:creationId xmlns:a16="http://schemas.microsoft.com/office/drawing/2014/main" id="{23335DA1-6D6E-251C-00BC-4D4113077ACE}"/>
              </a:ext>
            </a:extLst>
          </p:cNvPr>
          <p:cNvSpPr/>
          <p:nvPr/>
        </p:nvSpPr>
        <p:spPr>
          <a:xfrm>
            <a:off x="219456" y="3315652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57" name="Image 10" descr="preencoded.png">
            <a:extLst>
              <a:ext uri="{FF2B5EF4-FFF2-40B4-BE49-F238E27FC236}">
                <a16:creationId xmlns:a16="http://schemas.microsoft.com/office/drawing/2014/main" id="{95985612-BED9-41EB-4F30-0B72A52452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88" y="3336226"/>
            <a:ext cx="205740" cy="205740"/>
          </a:xfrm>
          <a:prstGeom prst="rect">
            <a:avLst/>
          </a:prstGeom>
        </p:spPr>
      </p:pic>
      <p:sp>
        <p:nvSpPr>
          <p:cNvPr id="58" name="Text 47">
            <a:extLst>
              <a:ext uri="{FF2B5EF4-FFF2-40B4-BE49-F238E27FC236}">
                <a16:creationId xmlns:a16="http://schemas.microsoft.com/office/drawing/2014/main" id="{3328AFBD-EB72-8158-4388-796517FF4000}"/>
              </a:ext>
            </a:extLst>
          </p:cNvPr>
          <p:cNvSpPr/>
          <p:nvPr/>
        </p:nvSpPr>
        <p:spPr>
          <a:xfrm>
            <a:off x="521208" y="3322510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DynamoDB (5 tables)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Profiles, conversations, market, onboarding, disease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9" name="Shape 48">
            <a:extLst>
              <a:ext uri="{FF2B5EF4-FFF2-40B4-BE49-F238E27FC236}">
                <a16:creationId xmlns:a16="http://schemas.microsoft.com/office/drawing/2014/main" id="{B7D10A30-9B5A-F3B3-9328-9A86E2DB8631}"/>
              </a:ext>
            </a:extLst>
          </p:cNvPr>
          <p:cNvSpPr/>
          <p:nvPr/>
        </p:nvSpPr>
        <p:spPr>
          <a:xfrm>
            <a:off x="219456" y="3672268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0" name="Shape 49">
            <a:extLst>
              <a:ext uri="{FF2B5EF4-FFF2-40B4-BE49-F238E27FC236}">
                <a16:creationId xmlns:a16="http://schemas.microsoft.com/office/drawing/2014/main" id="{B367BC1A-2796-835A-201F-2E31F62A6696}"/>
              </a:ext>
            </a:extLst>
          </p:cNvPr>
          <p:cNvSpPr/>
          <p:nvPr/>
        </p:nvSpPr>
        <p:spPr>
          <a:xfrm>
            <a:off x="219456" y="3699700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61" name="Image 11" descr="preencoded.png">
            <a:extLst>
              <a:ext uri="{FF2B5EF4-FFF2-40B4-BE49-F238E27FC236}">
                <a16:creationId xmlns:a16="http://schemas.microsoft.com/office/drawing/2014/main" id="{2A2AEA05-F924-B20D-DAD4-F0D4A88790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888" y="3720274"/>
            <a:ext cx="205740" cy="205740"/>
          </a:xfrm>
          <a:prstGeom prst="rect">
            <a:avLst/>
          </a:prstGeom>
        </p:spPr>
      </p:pic>
      <p:sp>
        <p:nvSpPr>
          <p:cNvPr id="62" name="Text 50">
            <a:extLst>
              <a:ext uri="{FF2B5EF4-FFF2-40B4-BE49-F238E27FC236}">
                <a16:creationId xmlns:a16="http://schemas.microsoft.com/office/drawing/2014/main" id="{6F677F90-E7B0-D958-102D-1F9A70485AC4}"/>
              </a:ext>
            </a:extLst>
          </p:cNvPr>
          <p:cNvSpPr/>
          <p:nvPr/>
        </p:nvSpPr>
        <p:spPr>
          <a:xfrm>
            <a:off x="521208" y="3706558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Amazon S3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Crop images + budget documents storage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3" name="Shape 51">
            <a:extLst>
              <a:ext uri="{FF2B5EF4-FFF2-40B4-BE49-F238E27FC236}">
                <a16:creationId xmlns:a16="http://schemas.microsoft.com/office/drawing/2014/main" id="{69C64431-D5D1-B3DB-3C1C-8A85A1654304}"/>
              </a:ext>
            </a:extLst>
          </p:cNvPr>
          <p:cNvSpPr/>
          <p:nvPr/>
        </p:nvSpPr>
        <p:spPr>
          <a:xfrm>
            <a:off x="219456" y="4056316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4" name="Shape 52">
            <a:extLst>
              <a:ext uri="{FF2B5EF4-FFF2-40B4-BE49-F238E27FC236}">
                <a16:creationId xmlns:a16="http://schemas.microsoft.com/office/drawing/2014/main" id="{C984DE7F-A9F3-D068-59E1-69E55E15D71C}"/>
              </a:ext>
            </a:extLst>
          </p:cNvPr>
          <p:cNvSpPr/>
          <p:nvPr/>
        </p:nvSpPr>
        <p:spPr>
          <a:xfrm>
            <a:off x="219456" y="4083748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65" name="Image 12" descr="preencoded.png">
            <a:extLst>
              <a:ext uri="{FF2B5EF4-FFF2-40B4-BE49-F238E27FC236}">
                <a16:creationId xmlns:a16="http://schemas.microsoft.com/office/drawing/2014/main" id="{546E37A1-23B1-F5E9-AF8D-3E892B39F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888" y="4104322"/>
            <a:ext cx="205740" cy="205740"/>
          </a:xfrm>
          <a:prstGeom prst="rect">
            <a:avLst/>
          </a:prstGeom>
        </p:spPr>
      </p:pic>
      <p:sp>
        <p:nvSpPr>
          <p:cNvPr id="66" name="Text 53">
            <a:extLst>
              <a:ext uri="{FF2B5EF4-FFF2-40B4-BE49-F238E27FC236}">
                <a16:creationId xmlns:a16="http://schemas.microsoft.com/office/drawing/2014/main" id="{ADAA581A-5871-0CD9-AC60-AA30A1D6C86D}"/>
              </a:ext>
            </a:extLst>
          </p:cNvPr>
          <p:cNvSpPr/>
          <p:nvPr/>
        </p:nvSpPr>
        <p:spPr>
          <a:xfrm>
            <a:off x="521208" y="4090606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AWS Secrets Manager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Encrypted API keys (zero hardcoded creds)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7" name="Shape 54">
            <a:extLst>
              <a:ext uri="{FF2B5EF4-FFF2-40B4-BE49-F238E27FC236}">
                <a16:creationId xmlns:a16="http://schemas.microsoft.com/office/drawing/2014/main" id="{A91CDA9B-4AAD-D7EB-CD0A-1ECB85BF1514}"/>
              </a:ext>
            </a:extLst>
          </p:cNvPr>
          <p:cNvSpPr/>
          <p:nvPr/>
        </p:nvSpPr>
        <p:spPr>
          <a:xfrm>
            <a:off x="219456" y="4440364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8" name="Shape 55">
            <a:extLst>
              <a:ext uri="{FF2B5EF4-FFF2-40B4-BE49-F238E27FC236}">
                <a16:creationId xmlns:a16="http://schemas.microsoft.com/office/drawing/2014/main" id="{DAF72D62-52C8-29D8-BACD-C901597A615B}"/>
              </a:ext>
            </a:extLst>
          </p:cNvPr>
          <p:cNvSpPr/>
          <p:nvPr/>
        </p:nvSpPr>
        <p:spPr>
          <a:xfrm>
            <a:off x="219456" y="4467796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69" name="Image 13" descr="preencoded.png">
            <a:extLst>
              <a:ext uri="{FF2B5EF4-FFF2-40B4-BE49-F238E27FC236}">
                <a16:creationId xmlns:a16="http://schemas.microsoft.com/office/drawing/2014/main" id="{6A2EF537-4054-13F9-EA28-A393B378B9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6888" y="4488370"/>
            <a:ext cx="205740" cy="205740"/>
          </a:xfrm>
          <a:prstGeom prst="rect">
            <a:avLst/>
          </a:prstGeom>
        </p:spPr>
      </p:pic>
      <p:sp>
        <p:nvSpPr>
          <p:cNvPr id="70" name="Text 56">
            <a:extLst>
              <a:ext uri="{FF2B5EF4-FFF2-40B4-BE49-F238E27FC236}">
                <a16:creationId xmlns:a16="http://schemas.microsoft.com/office/drawing/2014/main" id="{531CC231-6BF6-967D-FC85-21B4859A146E}"/>
              </a:ext>
            </a:extLst>
          </p:cNvPr>
          <p:cNvSpPr/>
          <p:nvPr/>
        </p:nvSpPr>
        <p:spPr>
          <a:xfrm>
            <a:off x="521208" y="4474654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Amazon CloudWatch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Logging, metrics, alerts, cost tracking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1" name="Shape 57">
            <a:extLst>
              <a:ext uri="{FF2B5EF4-FFF2-40B4-BE49-F238E27FC236}">
                <a16:creationId xmlns:a16="http://schemas.microsoft.com/office/drawing/2014/main" id="{61BB3A8D-8ED8-0E1E-7934-C09E1E262B7F}"/>
              </a:ext>
            </a:extLst>
          </p:cNvPr>
          <p:cNvSpPr/>
          <p:nvPr/>
        </p:nvSpPr>
        <p:spPr>
          <a:xfrm>
            <a:off x="4615434" y="2959035"/>
            <a:ext cx="4354830" cy="1884426"/>
          </a:xfrm>
          <a:prstGeom prst="rect">
            <a:avLst/>
          </a:prstGeom>
          <a:solidFill>
            <a:srgbClr val="F8FAFB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2" name="Shape 58">
            <a:extLst>
              <a:ext uri="{FF2B5EF4-FFF2-40B4-BE49-F238E27FC236}">
                <a16:creationId xmlns:a16="http://schemas.microsoft.com/office/drawing/2014/main" id="{92E7FE13-6C20-D650-6CF0-0A8940DDC0D5}"/>
              </a:ext>
            </a:extLst>
          </p:cNvPr>
          <p:cNvSpPr/>
          <p:nvPr/>
        </p:nvSpPr>
        <p:spPr>
          <a:xfrm>
            <a:off x="4615434" y="2959036"/>
            <a:ext cx="4354830" cy="288036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3" name="Text 59">
            <a:extLst>
              <a:ext uri="{FF2B5EF4-FFF2-40B4-BE49-F238E27FC236}">
                <a16:creationId xmlns:a16="http://schemas.microsoft.com/office/drawing/2014/main" id="{8F43A5E5-6BD5-32C3-3524-859892BD3173}"/>
              </a:ext>
            </a:extLst>
          </p:cNvPr>
          <p:cNvSpPr/>
          <p:nvPr/>
        </p:nvSpPr>
        <p:spPr>
          <a:xfrm>
            <a:off x="4697730" y="2959036"/>
            <a:ext cx="42519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88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🔒  Monitoring &amp; Security</a:t>
            </a:r>
            <a:endParaRPr kumimoji="0" lang="en-US" sz="788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4" name="Shape 60">
            <a:extLst>
              <a:ext uri="{FF2B5EF4-FFF2-40B4-BE49-F238E27FC236}">
                <a16:creationId xmlns:a16="http://schemas.microsoft.com/office/drawing/2014/main" id="{4F8EC71B-30E6-2EF5-9634-E406E7D7FFBE}"/>
              </a:ext>
            </a:extLst>
          </p:cNvPr>
          <p:cNvSpPr/>
          <p:nvPr/>
        </p:nvSpPr>
        <p:spPr>
          <a:xfrm>
            <a:off x="4684014" y="3288220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5" name="Shape 61">
            <a:extLst>
              <a:ext uri="{FF2B5EF4-FFF2-40B4-BE49-F238E27FC236}">
                <a16:creationId xmlns:a16="http://schemas.microsoft.com/office/drawing/2014/main" id="{324D7BB5-962F-F492-EA09-8D26E10F1F7D}"/>
              </a:ext>
            </a:extLst>
          </p:cNvPr>
          <p:cNvSpPr/>
          <p:nvPr/>
        </p:nvSpPr>
        <p:spPr>
          <a:xfrm>
            <a:off x="4684014" y="3315652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76" name="Image 14" descr="preencoded.png">
            <a:extLst>
              <a:ext uri="{FF2B5EF4-FFF2-40B4-BE49-F238E27FC236}">
                <a16:creationId xmlns:a16="http://schemas.microsoft.com/office/drawing/2014/main" id="{07D3430B-90EA-B0D0-FAB7-D99616A2BB0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1446" y="3336226"/>
            <a:ext cx="205740" cy="205740"/>
          </a:xfrm>
          <a:prstGeom prst="rect">
            <a:avLst/>
          </a:prstGeom>
        </p:spPr>
      </p:pic>
      <p:sp>
        <p:nvSpPr>
          <p:cNvPr id="77" name="Text 62">
            <a:extLst>
              <a:ext uri="{FF2B5EF4-FFF2-40B4-BE49-F238E27FC236}">
                <a16:creationId xmlns:a16="http://schemas.microsoft.com/office/drawing/2014/main" id="{D9E31C8B-5E50-0C3B-5AD2-1197A36A9419}"/>
              </a:ext>
            </a:extLst>
          </p:cNvPr>
          <p:cNvSpPr/>
          <p:nvPr/>
        </p:nvSpPr>
        <p:spPr>
          <a:xfrm>
            <a:off x="4985766" y="3322510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IAM Roles &amp; Policies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Least-privilege access for all Lambda funcs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8" name="Shape 63">
            <a:extLst>
              <a:ext uri="{FF2B5EF4-FFF2-40B4-BE49-F238E27FC236}">
                <a16:creationId xmlns:a16="http://schemas.microsoft.com/office/drawing/2014/main" id="{7952D38E-FD95-685F-78D4-A25CF1EF60EC}"/>
              </a:ext>
            </a:extLst>
          </p:cNvPr>
          <p:cNvSpPr/>
          <p:nvPr/>
        </p:nvSpPr>
        <p:spPr>
          <a:xfrm>
            <a:off x="4684014" y="3672268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9" name="Shape 64">
            <a:extLst>
              <a:ext uri="{FF2B5EF4-FFF2-40B4-BE49-F238E27FC236}">
                <a16:creationId xmlns:a16="http://schemas.microsoft.com/office/drawing/2014/main" id="{227E3445-4F39-F892-257D-8D4A7AC26651}"/>
              </a:ext>
            </a:extLst>
          </p:cNvPr>
          <p:cNvSpPr/>
          <p:nvPr/>
        </p:nvSpPr>
        <p:spPr>
          <a:xfrm>
            <a:off x="4684014" y="3699700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0" name="Image 15" descr="preencoded.png">
            <a:extLst>
              <a:ext uri="{FF2B5EF4-FFF2-40B4-BE49-F238E27FC236}">
                <a16:creationId xmlns:a16="http://schemas.microsoft.com/office/drawing/2014/main" id="{A0A89EE9-CFA2-DAF6-315D-C559F7B756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11446" y="3720274"/>
            <a:ext cx="205740" cy="205740"/>
          </a:xfrm>
          <a:prstGeom prst="rect">
            <a:avLst/>
          </a:prstGeom>
        </p:spPr>
      </p:pic>
      <p:sp>
        <p:nvSpPr>
          <p:cNvPr id="81" name="Text 65">
            <a:extLst>
              <a:ext uri="{FF2B5EF4-FFF2-40B4-BE49-F238E27FC236}">
                <a16:creationId xmlns:a16="http://schemas.microsoft.com/office/drawing/2014/main" id="{B2209C00-B3BD-324F-B82E-0C438AAAC38D}"/>
              </a:ext>
            </a:extLst>
          </p:cNvPr>
          <p:cNvSpPr/>
          <p:nvPr/>
        </p:nvSpPr>
        <p:spPr>
          <a:xfrm>
            <a:off x="4985766" y="3706558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DynamoDB Auto-TTL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Market cache (6hr), onboarding expiry (7d)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2" name="Shape 66">
            <a:extLst>
              <a:ext uri="{FF2B5EF4-FFF2-40B4-BE49-F238E27FC236}">
                <a16:creationId xmlns:a16="http://schemas.microsoft.com/office/drawing/2014/main" id="{CD0182A2-E4D8-ADE6-5541-42446029B010}"/>
              </a:ext>
            </a:extLst>
          </p:cNvPr>
          <p:cNvSpPr/>
          <p:nvPr/>
        </p:nvSpPr>
        <p:spPr>
          <a:xfrm>
            <a:off x="4684014" y="4056316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3" name="Shape 67">
            <a:extLst>
              <a:ext uri="{FF2B5EF4-FFF2-40B4-BE49-F238E27FC236}">
                <a16:creationId xmlns:a16="http://schemas.microsoft.com/office/drawing/2014/main" id="{6B57E853-1697-8BB0-8BAC-F6DD3553F0A3}"/>
              </a:ext>
            </a:extLst>
          </p:cNvPr>
          <p:cNvSpPr/>
          <p:nvPr/>
        </p:nvSpPr>
        <p:spPr>
          <a:xfrm>
            <a:off x="4684014" y="4083748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4" name="Image 16" descr="preencoded.png">
            <a:extLst>
              <a:ext uri="{FF2B5EF4-FFF2-40B4-BE49-F238E27FC236}">
                <a16:creationId xmlns:a16="http://schemas.microsoft.com/office/drawing/2014/main" id="{9338329B-1FFC-042F-E24E-8DBCA080C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446" y="4104322"/>
            <a:ext cx="205740" cy="205740"/>
          </a:xfrm>
          <a:prstGeom prst="rect">
            <a:avLst/>
          </a:prstGeom>
        </p:spPr>
      </p:pic>
      <p:sp>
        <p:nvSpPr>
          <p:cNvPr id="85" name="Text 68">
            <a:extLst>
              <a:ext uri="{FF2B5EF4-FFF2-40B4-BE49-F238E27FC236}">
                <a16:creationId xmlns:a16="http://schemas.microsoft.com/office/drawing/2014/main" id="{222460EC-5559-509B-0FCB-CF0AD0E32F41}"/>
              </a:ext>
            </a:extLst>
          </p:cNvPr>
          <p:cNvSpPr/>
          <p:nvPr/>
        </p:nvSpPr>
        <p:spPr>
          <a:xfrm>
            <a:off x="4985766" y="4090606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Lambda Auto-Scaling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1000+ concurrent executions supported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6" name="Shape 69">
            <a:extLst>
              <a:ext uri="{FF2B5EF4-FFF2-40B4-BE49-F238E27FC236}">
                <a16:creationId xmlns:a16="http://schemas.microsoft.com/office/drawing/2014/main" id="{C3B41733-0BE5-81DF-CA6C-D5C145721610}"/>
              </a:ext>
            </a:extLst>
          </p:cNvPr>
          <p:cNvSpPr/>
          <p:nvPr/>
        </p:nvSpPr>
        <p:spPr>
          <a:xfrm>
            <a:off x="4684014" y="4440364"/>
            <a:ext cx="4217670" cy="0"/>
          </a:xfrm>
          <a:prstGeom prst="line">
            <a:avLst/>
          </a:prstGeom>
          <a:noFill/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87" name="Shape 70">
            <a:extLst>
              <a:ext uri="{FF2B5EF4-FFF2-40B4-BE49-F238E27FC236}">
                <a16:creationId xmlns:a16="http://schemas.microsoft.com/office/drawing/2014/main" id="{E5DB8625-F556-B728-ECDC-2F9B9B00BE62}"/>
              </a:ext>
            </a:extLst>
          </p:cNvPr>
          <p:cNvSpPr/>
          <p:nvPr/>
        </p:nvSpPr>
        <p:spPr>
          <a:xfrm>
            <a:off x="4684014" y="4467796"/>
            <a:ext cx="260604" cy="246888"/>
          </a:xfrm>
          <a:prstGeom prst="roundRect">
            <a:avLst>
              <a:gd name="adj" fmla="val 11111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8" name="Image 17" descr="preencoded.png">
            <a:extLst>
              <a:ext uri="{FF2B5EF4-FFF2-40B4-BE49-F238E27FC236}">
                <a16:creationId xmlns:a16="http://schemas.microsoft.com/office/drawing/2014/main" id="{A79A8878-CEF4-3802-295B-AC00C49A83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1446" y="4488370"/>
            <a:ext cx="205740" cy="205740"/>
          </a:xfrm>
          <a:prstGeom prst="rect">
            <a:avLst/>
          </a:prstGeom>
        </p:spPr>
      </p:pic>
      <p:sp>
        <p:nvSpPr>
          <p:cNvPr id="89" name="Text 71">
            <a:extLst>
              <a:ext uri="{FF2B5EF4-FFF2-40B4-BE49-F238E27FC236}">
                <a16:creationId xmlns:a16="http://schemas.microsoft.com/office/drawing/2014/main" id="{6AFCD1FE-6130-9333-DCF8-F90BF748B167}"/>
              </a:ext>
            </a:extLst>
          </p:cNvPr>
          <p:cNvSpPr/>
          <p:nvPr/>
        </p:nvSpPr>
        <p:spPr>
          <a:xfrm>
            <a:off x="4985766" y="4474654"/>
            <a:ext cx="388848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675" b="1" i="0" u="none" strike="noStrike" kern="0" cap="none" spc="0" normalizeH="0" baseline="0" noProof="0">
                <a:ln>
                  <a:noFill/>
                </a:ln>
                <a:solidFill>
                  <a:srgbClr val="263238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Region: ap-south-1 (Mumbai)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563" b="0" i="0" u="none" strike="noStrike" kern="0" cap="none" spc="0" normalizeH="0" baseline="0" noProof="0">
                <a:ln>
                  <a:noFill/>
                </a:ln>
                <a:solidFill>
                  <a:srgbClr val="78909C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Low-latency access for Indian farmers</a:t>
            </a:r>
            <a:endParaRPr kumimoji="0" lang="en-US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1" name="Shape 72">
            <a:extLst>
              <a:ext uri="{FF2B5EF4-FFF2-40B4-BE49-F238E27FC236}">
                <a16:creationId xmlns:a16="http://schemas.microsoft.com/office/drawing/2014/main" id="{A1410392-C034-DFFB-ACC3-D2435D6D1AED}"/>
              </a:ext>
            </a:extLst>
          </p:cNvPr>
          <p:cNvSpPr/>
          <p:nvPr/>
        </p:nvSpPr>
        <p:spPr>
          <a:xfrm>
            <a:off x="0" y="4896612"/>
            <a:ext cx="9121140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92" name="Text 73">
            <a:extLst>
              <a:ext uri="{FF2B5EF4-FFF2-40B4-BE49-F238E27FC236}">
                <a16:creationId xmlns:a16="http://schemas.microsoft.com/office/drawing/2014/main" id="{217CEA22-7606-AC54-C288-8A6CA53457A2}"/>
              </a:ext>
            </a:extLst>
          </p:cNvPr>
          <p:cNvSpPr/>
          <p:nvPr/>
        </p:nvSpPr>
        <p:spPr>
          <a:xfrm>
            <a:off x="0" y="4896612"/>
            <a:ext cx="91211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713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Built on AWS · Powered by Amazon Bedrock · Production-Ready for Indian Farmers</a:t>
            </a:r>
            <a:endParaRPr kumimoji="0" lang="en-US" sz="71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04;p21" title="Artboarddfghjk – 6.png">
            <a:extLst>
              <a:ext uri="{FF2B5EF4-FFF2-40B4-BE49-F238E27FC236}">
                <a16:creationId xmlns:a16="http://schemas.microsoft.com/office/drawing/2014/main" id="{A9F4D2B6-FF03-AD23-49F7-EEF58848D1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/>
          <p:cNvSpPr/>
          <p:nvPr/>
        </p:nvSpPr>
        <p:spPr>
          <a:xfrm>
            <a:off x="457200" y="1149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1 Village Pilot 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959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9590"/>
            <a:ext cx="54864" cy="7498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1589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72562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6103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Tech Infrastructure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25880" y="183535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AI/LLM API  •  WhatsApp Business API  •  Cloud Hosting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09160" y="169819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₹6–17K/mo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33827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2338270"/>
            <a:ext cx="54864" cy="74980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85800" y="2484574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259430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2971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Village Data Agent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25880" y="27040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1 local agent (₹10–12K/mo)  •  Training  •  Smartphone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09160" y="256687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₹10–12K/mo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57200" y="320695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57200" y="3206950"/>
            <a:ext cx="54864" cy="749808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85800" y="3353254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46298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329839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Data Collection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325880" y="357271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Govt API integration  •  Soil testing kits  •  Farmer surveys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709160" y="343555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One-time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57200" y="407563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57200" y="4075630"/>
            <a:ext cx="54864" cy="749808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85800" y="4221934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33166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25880" y="41670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Miscellaneous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325880" y="444139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SIM / Data recharge  •  Travel  •  Printing materials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4709160" y="43042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₹3–5K/mo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126480" y="183535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126480" y="1835350"/>
            <a:ext cx="260604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126480" y="197251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One-Time Setup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126480" y="220111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0F5D10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₹28K–40K</a:t>
            </a:r>
            <a:endParaRPr kumimoji="0" lang="en-US" sz="2600" b="0" i="0" u="none" strike="noStrike" kern="0" cap="none" spc="0" normalizeH="0" baseline="0" noProof="0">
              <a:ln>
                <a:noFill/>
              </a:ln>
              <a:solidFill>
                <a:srgbClr val="0F5D1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126480" y="258515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Training + Device + Data Setup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126480" y="316123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6126480" y="3161230"/>
            <a:ext cx="2606040" cy="54864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126480" y="329839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Monthly Running Cost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6126480" y="352699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₹19–34K</a:t>
            </a:r>
            <a:endParaRPr kumimoji="0" lang="en-US" sz="2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6126480" y="391103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Agent + Tech + Operations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126480" y="446882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~ ₹1.5 – 2.5 Lakhs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3" name="Google Shape;105;p21">
            <a:extLst>
              <a:ext uri="{FF2B5EF4-FFF2-40B4-BE49-F238E27FC236}">
                <a16:creationId xmlns:a16="http://schemas.microsoft.com/office/drawing/2014/main" id="{6370D50F-6A5B-72D8-5789-CA1EA6C689B7}"/>
              </a:ext>
            </a:extLst>
          </p:cNvPr>
          <p:cNvSpPr txBox="1"/>
          <p:nvPr/>
        </p:nvSpPr>
        <p:spPr>
          <a:xfrm>
            <a:off x="285750" y="663525"/>
            <a:ext cx="8858250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"/>
                <a:cs typeface="Manrope"/>
                <a:sym typeface="Manrope"/>
              </a:rPr>
              <a:t>Estimated implementation cost: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453CBB8-3F9B-340D-F998-28E700CFFC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442" y="350042"/>
            <a:ext cx="930119" cy="930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104;p21" title="Artboarddfghjk – 6.png">
            <a:extLst>
              <a:ext uri="{FF2B5EF4-FFF2-40B4-BE49-F238E27FC236}">
                <a16:creationId xmlns:a16="http://schemas.microsoft.com/office/drawing/2014/main" id="{A9F4D2B6-FF03-AD23-49F7-EEF58848D1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2"/>
          <p:cNvSpPr/>
          <p:nvPr/>
        </p:nvSpPr>
        <p:spPr>
          <a:xfrm>
            <a:off x="457200" y="1149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Verified Metrics (Tested March 7, 2026) 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959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9590"/>
            <a:ext cx="54864" cy="74980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1615894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2562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56103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AI Routing Accuracy: 100%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25880" y="183535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40 queries tested (Hindi + English) with zero misrouting errors across all 4 agents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09160" y="169819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40 Queries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33827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2338270"/>
            <a:ext cx="54864" cy="749808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85800" y="2484574"/>
            <a:ext cx="457200" cy="457200"/>
          </a:xfrm>
          <a:prstGeom prst="ellipse">
            <a:avLst/>
          </a:prstGeom>
          <a:solidFill>
            <a:srgbClr val="1B5E2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594302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25880" y="242971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Crop Name Extraction: 92.86%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325880" y="270403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13/14 queries correctly extracted crop names from Hindi and English farmer messages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709160" y="256687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14 Queries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57200" y="320695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57200" y="3206950"/>
            <a:ext cx="54864" cy="749808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85800" y="3353254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46298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25880" y="329839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Avg Response Time: 2.96 seconds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1325880" y="357271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Greeting: 1.0s | Market: 2.67s | Finance: 3.73s | Crop: 4.46s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4709160" y="343555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457200" y="4075630"/>
            <a:ext cx="53035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457200" y="4075630"/>
            <a:ext cx="54864" cy="749808"/>
          </a:xfrm>
          <a:prstGeom prst="rect">
            <a:avLst/>
          </a:prstGeom>
          <a:solidFill>
            <a:srgbClr val="66BB6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685800" y="4221934"/>
            <a:ext cx="457200" cy="457200"/>
          </a:xfrm>
          <a:prstGeom prst="ellipse">
            <a:avLst/>
          </a:prstGeom>
          <a:solidFill>
            <a:srgbClr val="66BB6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331662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325880" y="416707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Bilingual Support: 100%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1" name="Text 25"/>
          <p:cNvSpPr/>
          <p:nvPr/>
        </p:nvSpPr>
        <p:spPr>
          <a:xfrm>
            <a:off x="1325880" y="444139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20 Hindi + 20 English queries tested with perfect accuracy in both languages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4709160" y="430423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B5E20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40 Queries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6126480" y="183535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126480" y="1835350"/>
            <a:ext cx="260604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6126480" y="197251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6126480" y="220111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0F5D10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100% Routing</a:t>
            </a:r>
            <a:endParaRPr kumimoji="0" lang="en-US" sz="2600" b="0" i="0" u="none" strike="noStrike" kern="0" cap="none" spc="0" normalizeH="0" baseline="0" noProof="0">
              <a:ln>
                <a:noFill/>
              </a:ln>
              <a:solidFill>
                <a:srgbClr val="0F5D1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7" name="Text 31"/>
          <p:cNvSpPr/>
          <p:nvPr/>
        </p:nvSpPr>
        <p:spPr>
          <a:xfrm>
            <a:off x="6126480" y="258515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nrope" panose="020B0604020202020204" charset="0"/>
                <a:ea typeface="Calibri" pitchFamily="34" charset="-122"/>
                <a:cs typeface="Calibri" pitchFamily="34" charset="-120"/>
                <a:sym typeface="Arial"/>
              </a:rPr>
              <a:t>Verified across Crop, Market, Finance, and General agents</a:t>
            </a: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6126480" y="3161230"/>
            <a:ext cx="26060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39" name="Shape 33"/>
          <p:cNvSpPr/>
          <p:nvPr/>
        </p:nvSpPr>
        <p:spPr>
          <a:xfrm>
            <a:off x="6126480" y="3161230"/>
            <a:ext cx="2606040" cy="54864"/>
          </a:xfrm>
          <a:prstGeom prst="rect">
            <a:avLst/>
          </a:prstGeom>
          <a:solidFill>
            <a:srgbClr val="EF6C0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IN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0" name="Text 34"/>
          <p:cNvSpPr/>
          <p:nvPr/>
        </p:nvSpPr>
        <p:spPr>
          <a:xfrm>
            <a:off x="6126480" y="329839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1" name="Text 35"/>
          <p:cNvSpPr/>
          <p:nvPr/>
        </p:nvSpPr>
        <p:spPr>
          <a:xfrm>
            <a:off x="6126480" y="352699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600" b="1" i="0" u="none" strike="noStrike" kern="0" cap="none" spc="0" normalizeH="0" baseline="0" noProof="0">
                <a:ln>
                  <a:noFill/>
                </a:ln>
                <a:solidFill>
                  <a:srgbClr val="EF6C00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Sub-3s Avg</a:t>
            </a:r>
            <a:endParaRPr kumimoji="0" lang="en-US" sz="2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2" name="Text 36"/>
          <p:cNvSpPr/>
          <p:nvPr/>
        </p:nvSpPr>
        <p:spPr>
          <a:xfrm>
            <a:off x="6126480" y="391103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5" name="Text 39"/>
          <p:cNvSpPr/>
          <p:nvPr/>
        </p:nvSpPr>
        <p:spPr>
          <a:xfrm>
            <a:off x="6126480" y="446882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nrope" panose="020B0604020202020204" charset="0"/>
                <a:ea typeface="Georgia" pitchFamily="34" charset="-122"/>
                <a:cs typeface="Georgia" pitchFamily="34" charset="-120"/>
                <a:sym typeface="Arial"/>
              </a:rPr>
              <a:t>Model: Amazon Nova Pro | Region: us-east-1 | Real AWS Bedrock API calls, no mocking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nrope" panose="020B0604020202020204" charset="0"/>
              <a:cs typeface="Arial"/>
              <a:sym typeface="Arial"/>
            </a:endParaRPr>
          </a:p>
        </p:txBody>
      </p:sp>
      <p:sp>
        <p:nvSpPr>
          <p:cNvPr id="43" name="Google Shape;105;p21">
            <a:extLst>
              <a:ext uri="{FF2B5EF4-FFF2-40B4-BE49-F238E27FC236}">
                <a16:creationId xmlns:a16="http://schemas.microsoft.com/office/drawing/2014/main" id="{6370D50F-6A5B-72D8-5789-CA1EA6C689B7}"/>
              </a:ext>
            </a:extLst>
          </p:cNvPr>
          <p:cNvSpPr txBox="1"/>
          <p:nvPr/>
        </p:nvSpPr>
        <p:spPr>
          <a:xfrm>
            <a:off x="285750" y="663525"/>
            <a:ext cx="8858250" cy="48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>
                <a:ln>
                  <a:noFill/>
                </a:ln>
                <a:solidFill>
                  <a:srgbClr val="202729"/>
                </a:solidFill>
                <a:effectLst/>
                <a:uLnTx/>
                <a:uFillTx/>
                <a:latin typeface="Manrope" panose="020B0604020202020204" charset="0"/>
                <a:ea typeface="Manrope"/>
                <a:cs typeface="Manrope"/>
                <a:sym typeface="Manrope"/>
              </a:rPr>
              <a:t>Performance Report &amp; Benchmarking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434343"/>
              </a:solidFill>
              <a:effectLst/>
              <a:uLnTx/>
              <a:uFillTx/>
              <a:latin typeface="Manrope" panose="020B0604020202020204" charset="0"/>
              <a:ea typeface="Manrope"/>
              <a:cs typeface="Manrope"/>
              <a:sym typeface="Manrope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A453CBB8-3F9B-340D-F998-28E700CFFC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442" y="350042"/>
            <a:ext cx="930119" cy="9301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 sz="1700" b="1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sz="1700" b="1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298843-E55A-4391-8522-ED8CF89D323E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1909</Words>
  <Application>Microsoft Office PowerPoint</Application>
  <PresentationFormat>On-screen Show (16:9)</PresentationFormat>
  <Paragraphs>267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Manrope SemiBold</vt:lpstr>
      <vt:lpstr>Calibri</vt:lpstr>
      <vt:lpstr>Arial</vt:lpstr>
      <vt:lpstr>Manrope</vt:lpstr>
      <vt:lpstr>Poppins</vt:lpstr>
      <vt:lpstr>Simple Light</vt:lpstr>
      <vt:lpstr>1_Simple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Mahesh Rane</dc:creator>
  <cp:lastModifiedBy>Aditya Mahesh Rane</cp:lastModifiedBy>
  <cp:revision>5</cp:revision>
  <dcterms:modified xsi:type="dcterms:W3CDTF">2026-03-07T08:34:33Z</dcterms:modified>
</cp:coreProperties>
</file>